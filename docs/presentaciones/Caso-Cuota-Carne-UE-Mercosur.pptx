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-59436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3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UE—MCS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1005840" cy="0"/>
          </a:xfrm>
          <a:prstGeom prst="line">
            <a:avLst/>
          </a:prstGeom>
          <a:noFill/>
          <a:ln w="31750">
            <a:solidFill>
              <a:srgbClr val="A844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4505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DE NEGOCIACIÓN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casos aplicados del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acuerdo UE–Mercosur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cuota de carne, la cláusula de salvaguardia y la competencia industrial doméstica — tres preguntas que el Simulador MIP Paraguay puede responder con números.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60533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MIP PARAGUAY 2024 · CASOS APLICADOS PARA TALLER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63276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5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Acuerdo UE–Mercosur (ratificado, marzo 2026) · BCP · APEA · Prensa Mercosur · FEPRINCO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preguntas, un mismo simulador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carga el mismo mecanismo — Estímulos Nacionales, Modo Comparado — sobre una pregunta distinta.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777240" cy="777240"/>
          </a:xfrm>
          <a:prstGeom prst="ellipse">
            <a:avLst/>
          </a:prstGeom>
          <a:ln w="25400">
            <a:solidFill>
              <a:srgbClr val="7A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90" dirty="0"/>
          </a:p>
        </p:txBody>
      </p:sp>
      <p:sp>
        <p:nvSpPr>
          <p:cNvPr id="7" name="Text 5"/>
          <p:cNvSpPr/>
          <p:nvPr/>
        </p:nvSpPr>
        <p:spPr>
          <a:xfrm>
            <a:off x="1691640" y="21305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cuota de carne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5328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vale ganar la disputa del reparto?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0" y="2148840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OFICIAL EN TONELADAS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10911535" cy="0"/>
          </a:xfrm>
          <a:prstGeom prst="line">
            <a:avLst/>
          </a:prstGeom>
          <a:noFill/>
          <a:ln w="9525">
            <a:solidFill>
              <a:srgbClr val="4A3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319272"/>
            <a:ext cx="777240" cy="777240"/>
          </a:xfrm>
          <a:prstGeom prst="ellipse">
            <a:avLst/>
          </a:prstGeom>
          <a:ln w="25400">
            <a:solidFill>
              <a:srgbClr val="C7A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192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C7A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90" dirty="0"/>
          </a:p>
        </p:txBody>
      </p:sp>
      <p:sp>
        <p:nvSpPr>
          <p:cNvPr id="13" name="Text 11"/>
          <p:cNvSpPr/>
          <p:nvPr/>
        </p:nvSpPr>
        <p:spPr>
          <a:xfrm>
            <a:off x="1691640" y="33009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cláusula de salvaguardia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703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sostenible es esa ganancia?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63840" y="3319272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SENSIBILIDAD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10911535" cy="0"/>
          </a:xfrm>
          <a:prstGeom prst="line">
            <a:avLst/>
          </a:prstGeom>
          <a:noFill/>
          <a:ln w="9525">
            <a:solidFill>
              <a:srgbClr val="4A3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489704"/>
            <a:ext cx="777240" cy="777240"/>
          </a:xfrm>
          <a:prstGeom prst="ellipse">
            <a:avLst/>
          </a:prstGeom>
          <a:ln w="25400">
            <a:solidFill>
              <a:srgbClr val="4B73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897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4B7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90" dirty="0"/>
          </a:p>
        </p:txBody>
      </p:sp>
      <p:sp>
        <p:nvSpPr>
          <p:cNvPr id="19" name="Text 17"/>
          <p:cNvSpPr/>
          <p:nvPr/>
        </p:nvSpPr>
        <p:spPr>
          <a:xfrm>
            <a:off x="1691640" y="447141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competencia industrial doméstica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48737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siente el acuerdo del otro lado?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0" y="4489704"/>
            <a:ext cx="3687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4B7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 NEGATIVO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EL CONTEXTO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acuerdo ratificado, un reparto sin resolver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acuerdo UE–Mercosur ya está en marcha. Lo que falta definir es cómo se divide una de sus piezas más disputadas.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40680" cy="1965960"/>
          </a:xfrm>
          <a:prstGeom prst="roundRect">
            <a:avLst>
              <a:gd name="adj" fmla="val 2326"/>
            </a:avLst>
          </a:prstGeom>
          <a:solidFill>
            <a:srgbClr val="F5F1E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2199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acuerdo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60904"/>
            <a:ext cx="49286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Ratificado por los cuatro socios del Mercosur en marzo de 2026.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de 99.000 toneladas/año de carne bovina hacia la UE, a un arancel preferencial de 7,5%.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solo ~1,5% de la producción bovina de la UE — pero es una fracción muy disputada entre los exportadores del bloque.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1965960"/>
          </a:xfrm>
          <a:prstGeom prst="roundRect">
            <a:avLst>
              <a:gd name="adj" fmla="val 2326"/>
            </a:avLst>
          </a:prstGeom>
          <a:solidFill>
            <a:srgbClr val="F5F1EB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22199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vacío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2660904"/>
            <a:ext cx="49286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Argentina, Brasil, Paraguay y Uruguay no acordaron aún cómo repartir la cuota entre ellos.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Rige un esquema transitorio de "primero llegado, primero servido".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esquema permanente de reparto debe definirse antes de 2027.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10911535" cy="1051560"/>
          </a:xfrm>
          <a:prstGeom prst="roundRect">
            <a:avLst>
              <a:gd name="adj" fmla="val 4348"/>
            </a:avLst>
          </a:prstGeom>
          <a:solidFill>
            <a:srgbClr val="FBF8F3"/>
          </a:solidFill>
          <a:ln w="12700">
            <a:solidFill>
              <a:srgbClr val="C7A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8912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HIPOTÉTICO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Paraguay formalizó su reclamo el 19 de agosto de 2026: exige que cada socio reciba un 25% parejo de la cuota, en lugar de un reparto proporcional al peso exportador de cada país.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EL CONTEXTO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socios, tres criterios distintos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país propone el criterio de reparto que más lo favorece — no hay una fórmula neutral.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2286000"/>
        </p:xfrm>
        <a:graphic>
          <a:graphicData uri="http://schemas.openxmlformats.org/drawingml/2006/table">
            <a:tbl>
              <a:tblPr/>
              <a:tblGrid>
                <a:gridCol w="2468880"/>
                <a:gridCol w="5150815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E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 / posición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E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propuesto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E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quién favorece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32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Proporcional al volumen total exportado a todo destino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sí mismo — 68% del volumen exportado por el Mercosur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 · Uruguay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Proporcional a la participación histórica específica hacia la 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los exportadores tradicionales de carne premium europea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Paraguay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parejo para cada uno de los cuatro socios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4D9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los socios de menor escala exportadora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A3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E2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617720"/>
            <a:ext cx="10911535" cy="914400"/>
          </a:xfrm>
          <a:prstGeom prst="roundRect">
            <a:avLst>
              <a:gd name="adj" fmla="val 5000"/>
            </a:avLst>
          </a:prstGeom>
          <a:solidFill>
            <a:srgbClr val="2E241A"/>
          </a:solidFill>
          <a:ln w="12700">
            <a:solidFill>
              <a:srgbClr val="C7A25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80060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RESPALDA EL RECLAMO PARAGUAYO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Asociación Rural del Paraguay (ARP) y la Cámara Paraguaya de la Carne acompañan formalmente la posición del 25% ante la Cancillería.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EL EJERCICIO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disputa a las toneladas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criterio en juego se traduce en la porción de la cuota de 99.000 t que le tocaría a Paraguay.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81429" y="2103120"/>
            <a:ext cx="1371600" cy="1371600"/>
          </a:xfrm>
          <a:prstGeom prst="ellipse">
            <a:avLst/>
          </a:prstGeom>
          <a:ln w="25400">
            <a:solidFill>
              <a:srgbClr val="7A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81429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922776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Brasil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8.910 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US$ 61,6 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10048" y="2103120"/>
            <a:ext cx="1371600" cy="1371600"/>
          </a:xfrm>
          <a:prstGeom prst="ellipse">
            <a:avLst/>
          </a:prstGeom>
          <a:ln w="25400">
            <a:solidFill>
              <a:srgbClr val="C7A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0048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C7A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100" dirty="0"/>
          </a:p>
        </p:txBody>
      </p:sp>
      <p:sp>
        <p:nvSpPr>
          <p:cNvPr id="13" name="Text 11"/>
          <p:cNvSpPr/>
          <p:nvPr/>
        </p:nvSpPr>
        <p:spPr>
          <a:xfrm>
            <a:off x="4368698" y="361188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68698" y="3922776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+ prorrateo (ilustrativo)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68698" y="4480560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A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18.414 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68698" y="49834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US$ 127,3 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38666" y="2103120"/>
            <a:ext cx="1371600" cy="1371600"/>
          </a:xfrm>
          <a:prstGeom prst="ellipse">
            <a:avLst/>
          </a:prstGeom>
          <a:ln w="25400">
            <a:solidFill>
              <a:srgbClr val="4B73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8666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4B7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5100" dirty="0"/>
          </a:p>
        </p:txBody>
      </p:sp>
      <p:sp>
        <p:nvSpPr>
          <p:cNvPr id="19" name="Text 17"/>
          <p:cNvSpPr/>
          <p:nvPr/>
        </p:nvSpPr>
        <p:spPr>
          <a:xfrm>
            <a:off x="8097317" y="3611880"/>
            <a:ext cx="3454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97317" y="3922776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 de Paraguay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97317" y="4480560"/>
            <a:ext cx="34542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B73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24.750 t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097317" y="498348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US$ 171,1 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12700">
            <a:solidFill>
              <a:srgbClr val="E3DA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7607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C es ilustrativo — combina un piso igualitario de 15% con el resto prorrateado por volumen exportado. Valor a US$ 6.915/tonelada, precio FOB promedio de exportación paraguaya ene–jul 2026.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MEMORIA DE CÁLCULO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sale cada tonelada, paso a paso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se calcula fuera del simulador, antes de cargar 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4023360"/>
          </a:xfrm>
          <a:prstGeom prst="roundRect">
            <a:avLst>
              <a:gd name="adj" fmla="val 909"/>
            </a:avLst>
          </a:prstGeom>
          <a:solidFill>
            <a:srgbClr val="F5F1EB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PISO (CRITERIO BRASIL)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523744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Participación PY = 500.000 / (3.800.000+770.000+485.000+500.000) = 500.000 / 5.555.000 = 9,00%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Toneladas = 9,00% × 99.000 t = 8.910 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291840"/>
            <a:ext cx="10271455" cy="0"/>
          </a:xfrm>
          <a:prstGeom prst="line">
            <a:avLst/>
          </a:prstGeom>
          <a:noFill/>
          <a:ln w="9525">
            <a:solidFill>
              <a:srgbClr val="E3DAC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COMPROMISO (PISO + PRORRATEO)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675888"/>
            <a:ext cx="10271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Piso = 15% × 99.000 t = 14.850 t por socio → 4 × 14.850 = 59.400 t asignadas como piso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 = 99.000 − 59.400 = 39.600 t  ·  Parte de PY = 9,00% × 39.600 t = 3.564 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Toneladas PY = 14.850 + 3.564 = 18.414 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0120" y="4736592"/>
            <a:ext cx="10271455" cy="0"/>
          </a:xfrm>
          <a:prstGeom prst="line">
            <a:avLst/>
          </a:prstGeom>
          <a:noFill/>
          <a:ln w="9525">
            <a:solidFill>
              <a:srgbClr val="E3DAC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60120" y="4809744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B7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TECHO (RECLAMO DE PARAGUAY)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51206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Toneladas = 25% × 99.000 t = 24.750 t  (aplicación directa)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MEMORIA DE CÁLCULO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las toneladas al monto que se carga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4297680"/>
          </a:xfrm>
          <a:prstGeom prst="roundRect">
            <a:avLst>
              <a:gd name="adj" fmla="val 851"/>
            </a:avLst>
          </a:prstGeom>
          <a:solidFill>
            <a:srgbClr val="3A2E22"/>
          </a:solidFill>
          <a:ln w="12700">
            <a:solidFill>
              <a:srgbClr val="7C33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PISO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8960" y="1984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8.910 t  ×  US$ 6.915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9842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US$ 61.611.150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450592"/>
            <a:ext cx="10180015" cy="0"/>
          </a:xfrm>
          <a:prstGeom prst="line">
            <a:avLst/>
          </a:prstGeom>
          <a:noFill/>
          <a:ln w="9525">
            <a:solidFill>
              <a:srgbClr val="4A3C2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05840" y="25786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COMPROMISO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551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18.414 t  ×  US$ 6.915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25511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US$ 127.332.810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3017520"/>
            <a:ext cx="10180015" cy="0"/>
          </a:xfrm>
          <a:prstGeom prst="line">
            <a:avLst/>
          </a:prstGeom>
          <a:noFill/>
          <a:ln w="9525">
            <a:solidFill>
              <a:srgbClr val="4A3C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005840" y="31455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7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TECHO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31181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24.750 t  ×  US$ 6.915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0" y="31181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EA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US$ 171.146.250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3758184"/>
            <a:ext cx="10180015" cy="0"/>
          </a:xfrm>
          <a:prstGeom prst="line">
            <a:avLst/>
          </a:prstGeom>
          <a:noFill/>
          <a:ln w="15875">
            <a:solidFill>
              <a:srgbClr val="A844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86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− 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959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9.504 t  ×  US$ 6.915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9593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US$ 65,7 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4439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6.336 t  ×  US$ 6.915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44165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US$ 43,8 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9011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− 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873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15.840 t  ×  US$ 6.915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48737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A2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US$ 109,5 M   ← el rango completo de la disputa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EL MECANISMO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 shock de demanda de la UE — es cuánto exporta Paraguay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UE no compra más carne en total: la cuota está fija. Lo que cambia entre escenarios es la porción de esa cuota fija que Paraguay se queda.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40680" cy="2240280"/>
          </a:xfrm>
          <a:prstGeom prst="roundRect">
            <a:avLst>
              <a:gd name="adj" fmla="val 2041"/>
            </a:avLst>
          </a:prstGeom>
          <a:solidFill>
            <a:srgbClr val="3A2E2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9631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carga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935224"/>
            <a:ext cx="492861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Hoja: Estímulos Nacionales (no Estímulos Internacionales)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Ganadería y frigoríficos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demanda final: exportación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Modo: Comparado — dos escenarios simultáneos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Monto: la diferencia entre escenarios, en millones de USD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440680" cy="2240280"/>
          </a:xfrm>
          <a:prstGeom prst="roundRect">
            <a:avLst>
              <a:gd name="adj" fmla="val 2041"/>
            </a:avLst>
          </a:prstGeom>
          <a:solidFill>
            <a:srgbClr val="3A2E22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49631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monto que separa cada paso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2935224"/>
            <a:ext cx="492861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 a C: +US$ 65,7 millones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 a B: +US$ 43,8 millones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 a B: +US$ 109,5 millones — el rango completo de la disputa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5263"/>
            </a:avLst>
          </a:prstGeom>
          <a:solidFill>
            <a:srgbClr val="2E241A"/>
          </a:solidFill>
          <a:ln w="12700">
            <a:solidFill>
              <a:srgbClr val="C7A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89204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en cuánto compra la UE va en Estímulos Internacionales. Un cambio en cuánto le toca exportar a Paraguay, con la demanda de la UE fija, va en Estímulos Nacionales, como exportación.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LA LECTURA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mirar en el simulador una vez cargado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cuatro hojas y la misma estructura de columnas de siempre — con tres lentes que importan especialmente acá.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219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 vs. indirecto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60904"/>
            <a:ext cx="300837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del empleo extra queda en el frigorífico mismo.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derrama en la cadena de proveedores: forraje, transporte, insumos veterinarios.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ambos es el argumento de por qué esto no es solo un tema de un gremio.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4256" y="1965960"/>
            <a:ext cx="3520440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9" name="Text 7"/>
          <p:cNvSpPr/>
          <p:nvPr/>
        </p:nvSpPr>
        <p:spPr>
          <a:xfrm>
            <a:off x="4590288" y="22219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empleo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0288" y="2660904"/>
            <a:ext cx="300837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empleo exportador ya es más rural, menos calificado y más informal que el promedio nacional.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caso probablemente acentúa ese perfil — dato relevante para los representantes de trabajadores.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54112" y="1965960"/>
            <a:ext cx="3858768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12" name="Text 10"/>
          <p:cNvSpPr/>
          <p:nvPr/>
        </p:nvSpPr>
        <p:spPr>
          <a:xfrm>
            <a:off x="8010144" y="2221992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Inserción Internacional / VAX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10144" y="2660904"/>
            <a:ext cx="334670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 aparte, que no depende del escenario cargado.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cuánto de los USD brutos exportados es realmente valor agregado doméstico del sector ganadero.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matizar la cifra bruta de cada escenario.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CIERRE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ejercicio no 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82296" cy="82296"/>
          </a:xfrm>
          <a:prstGeom prst="ellipse">
            <a:avLst/>
          </a:prstGeom>
          <a:solidFill>
            <a:srgbClr val="C7A25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92808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estática comparativa: no dice cuándo se resuelve la disputa ni cuánto tarda en materializarse el efecto.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70632"/>
            <a:ext cx="82296" cy="82296"/>
          </a:xfrm>
          <a:prstGeom prst="ellipse">
            <a:avLst/>
          </a:prstGeom>
          <a:solidFill>
            <a:srgbClr val="C7A25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técnicos son fijos: no capta si un salto fuerte en exportación presiona el precio interno de la carne.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83864"/>
            <a:ext cx="82296" cy="82296"/>
          </a:xfrm>
          <a:prstGeom prst="ellipse">
            <a:avLst/>
          </a:prstGeom>
          <a:solidFill>
            <a:srgbClr val="C7A25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19272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usado (US$ 6.915/t) es el promedio general de exportación paraguaya, no específico del corte que entra bajo esta cuota — probablemente subestima el valor real.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97096"/>
            <a:ext cx="82296" cy="82296"/>
          </a:xfrm>
          <a:prstGeom prst="ellipse">
            <a:avLst/>
          </a:prstGeom>
          <a:solidFill>
            <a:srgbClr val="C7A25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32504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Escenario C es ilustrativo. Para precisar el criterio de Argentina y Uruguay hace falta el dato de participación histórica específica hacia la UE — disponible en Eurostat Comext, ya usado como fuente del simulador.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7A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modelo contabiliza, no anticipa.”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EL MECANISMO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Ganar la cuota puede ser lo que active la alarma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acuerdo que abre la cuota incluye un freno automático para frenar su uso.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40680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2199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dispara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60904"/>
            <a:ext cx="492861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automática si las importaciones del Mercosur suben 5% en volumen, o si su precio cae 5%, en una ventana de 3 años.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en 4 meses — 21 días en casos declarados urgentes.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terminar en restricciones al acceso preferencial del producto investigado.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22199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no es hipotético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2660904"/>
            <a:ext cx="492861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del ganado vacuno en la UE cayeron ~10% desde que arrancó la aplicación provisional del acuerdo (fines de abril de 2026) — hasta 13% en toros y novillos.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ganaderos europeos ya piden reforzar los mecanismos de protección.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de golpe 99.000 t nuevas de acceso preferencial hace muy probable que se toque el umbral de la salvaguardia en el primer año de uso.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CÓMO LLEVARLO AL SIMULADOR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una cifra oficial de "cuánto se pierde"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que se lo trata como estrés sobre el Caso 1, no como pronóstico.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11535" cy="2148840"/>
          </a:xfrm>
          <a:prstGeom prst="roundRect">
            <a:avLst>
              <a:gd name="adj" fmla="val 2128"/>
            </a:avLst>
          </a:prstGeom>
          <a:solidFill>
            <a:srgbClr val="3A2E2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04872"/>
            <a:ext cx="103994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ejercicio de sensibilidad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843784"/>
            <a:ext cx="10399471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del Escenario B ya cargado (+US$ 171,1 M / +24.750 t).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Escenario B' ilustrativo: qué pasaría si una investigación en curso suspende el acceso preferencial durante una porción del año — por ejemplo, los 4 meses que dura el proceso estándar.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Comparado: Escenario B (ganancia sostenida los 12 meses) vs. Escenario B' (ganancia interrumpida ~4 de 12 meses — cargar 8/12 del monto original).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10911535" cy="1463040"/>
          </a:xfrm>
          <a:prstGeom prst="roundRect">
            <a:avLst>
              <a:gd name="adj" fmla="val 3125"/>
            </a:avLst>
          </a:prstGeom>
          <a:solidFill>
            <a:srgbClr val="2E241A"/>
          </a:solidFill>
          <a:ln w="12700">
            <a:solidFill>
              <a:srgbClr val="C7A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70916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ADVERTENCIA Y PREGUNTA PARA EL TALLER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una construcción para disparar la discusión, no una proyección: el mecanismo real depende de una investigación caso por caso, no de una fórmula automática de descuento. Sirve para preguntar en el taller: ¿conviene a Paraguay usar la cuota al máximo desde el día uno, o administrar el ritmo de crecimiento de las exportaciones para evitar gatillar la salvaguardia?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MEMORIA DE CÁLCULO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aritmética detrás del ajuste ilustrativo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recorta el Escenario B en proporción a los meses de suspensión — 4 de 12 — y se recalcula el valor.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911535" cy="2834640"/>
          </a:xfrm>
          <a:prstGeom prst="roundRect">
            <a:avLst>
              <a:gd name="adj" fmla="val 1290"/>
            </a:avLst>
          </a:prstGeom>
          <a:solidFill>
            <a:srgbClr val="F5F1EB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B' (8 DE 12 MESES)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523744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Toneladas = 24.750 t × 8/12 = 16.500 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1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= 16.500 t × US$ 6.915/t = US$ 114.097.500 ≈ US$ 114,1 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337560"/>
            <a:ext cx="10271455" cy="0"/>
          </a:xfrm>
          <a:prstGeom prst="line">
            <a:avLst/>
          </a:prstGeom>
          <a:noFill/>
          <a:ln w="9525">
            <a:solidFill>
              <a:srgbClr val="E3DAC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960120" y="3520440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PONE EN JUEGO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831336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Toneladas: 24.750 − 16.500 = 8.250 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7A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Valor: US$ 171,1 M − US$ 114,1 M = US$ 57,0 M   (= 8.250 t × US$ 6.915/t = US$ 57.048.750)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· EL OTRO LADO DEL ACUERDO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 lo que se llama "Maquinaria y Vehículos" es lo mismo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agregado del simulador mezcla tres historias muy distintas frente a la apertura arancelaria.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945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248716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Metalmecánica y maquinaria agrícola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3127248"/>
            <a:ext cx="30083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genuinamente doméstica: varillas, tubos, estructuras, silos, maquinaria agrícola.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~US$ 1.000 M en toda la cadena · 6,6% del PIB manufacturero · 50.000 empleos directos.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orientada al mercado interno — es la que realmente compite con manufactura europea sin arancel.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4256" y="1965960"/>
            <a:ext cx="3520440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21945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B7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90288" y="2487168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Autopartes de exportación (maquila)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90288" y="3127248"/>
            <a:ext cx="30083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Yazaki, Fujikura, Sumidenso, Marseg: ~US$ 250 M/año exportados — la mayor categoría de exportación paraguaya por volumen.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 con importados: se beneficiaría de insumos y equipos europeos más baratos.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54112" y="1965960"/>
            <a:ext cx="3858768" cy="3246120"/>
          </a:xfrm>
          <a:prstGeom prst="roundRect">
            <a:avLst>
              <a:gd name="adj" fmla="val 1408"/>
            </a:avLst>
          </a:prstGeom>
          <a:solidFill>
            <a:srgbClr val="F5F1EB"/>
          </a:solidFill>
          <a:ln/>
        </p:spPr>
      </p:sp>
      <p:sp>
        <p:nvSpPr>
          <p:cNvPr id="14" name="Text 12"/>
          <p:cNvSpPr/>
          <p:nvPr/>
        </p:nvSpPr>
        <p:spPr>
          <a:xfrm>
            <a:off x="8010144" y="219456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10144" y="2487168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Vehículos terminados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10144" y="3127248"/>
            <a:ext cx="33467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Paraguay nunca sostuvo una industria automotriz propia (Alfa Romeo, Mitaí, el ensamblaje JAC — todos mínimos o fallidos).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todo el parque vehicular ya es importado: no hay producción doméstica que la apertura europea desplace.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0911535" cy="868680"/>
          </a:xfrm>
          <a:prstGeom prst="roundRect">
            <a:avLst>
              <a:gd name="adj" fmla="val 5263"/>
            </a:avLst>
          </a:prstGeom>
          <a:solidFill>
            <a:srgbClr val="FBF8F3"/>
          </a:solidFill>
          <a:ln w="12700">
            <a:solidFill>
              <a:srgbClr val="C7A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577840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LA DISTINCIÓN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852160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gremio relevante para este caso es la industria metalúrgica (UIP / metalmecánica) — no una genérica "industria automotriz", que en Paraguay prácticamente no existe. FEPRINCO ya advirtió que "los beneficios [del acuerdo] no vienen en forma inmediata".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· CÓMO SE VE EN EL SIMULADOR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mismo mecanismo del Caso 1, con el signo invertido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el estímulo no es una oportunidad de exportar más — es una presión de sustitución de producción doméstica por producto importado.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3A2E22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9631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carga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935224"/>
            <a:ext cx="49286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Hoja: Estímulos Nacionales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Maquinaria y vehículos (agregado del simulador — el tramo sensible es la metalmecánica, ver lámina anterior)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Mecanismo: el mismo de siempre, pero como reducción de demanda doméstica — monto negativo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Modo: Comparado, contra el escenario sin apertura industrial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3A2E22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49631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dato que falta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2935224"/>
            <a:ext cx="49286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Caso 1 (toneladas oficiales) y del Caso 2 (evidencia de precios), acá no hay una cifra publicada de cuánto de la producción doméstica podría sustituirse.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DC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tomar el PIB sectorial 2024 ya cargado en el simulador y probar un rango — por ejemplo, −5% y −15% — como sensibilidad, no como pronóstico. El resultado sobreestima el riesgo real, porque el PIB del sector incluye también autopartes y vehículos, que no compiten con Europa.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8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· MEMORIA DE CÁLCULO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fórmula está lista — falta un solo dato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Casos 1 y 2, acá no hay cifra publicada de partida: el monto depende del PIB sectorial, que ya está en el simulador.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40680" cy="3291840"/>
          </a:xfrm>
          <a:prstGeom prst="roundRect">
            <a:avLst>
              <a:gd name="adj" fmla="val 1389"/>
            </a:avLst>
          </a:prstGeom>
          <a:solidFill>
            <a:srgbClr val="F5F1E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22199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fórmula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60904"/>
            <a:ext cx="49286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a cargar = −(5% a 15%) × PIB 2024 del sector Maquinaria y Vehículos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es negativo: es sustitución de producción doméstica, no una exportación nueva.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3291840"/>
          </a:xfrm>
          <a:prstGeom prst="roundRect">
            <a:avLst>
              <a:gd name="adj" fmla="val 1389"/>
            </a:avLst>
          </a:prstGeom>
          <a:solidFill>
            <a:srgbClr val="F5F1EB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221992"/>
            <a:ext cx="4928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C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único dato pendiente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28232" y="2660904"/>
            <a:ext cx="49286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2024 del sector Maquinaria y Vehículos — está en la hoja Estímulos Nacionales del simulador (columna "PIB sector"), no hace falta buscarlo afuera.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B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ese valor, el rango −5% / −15% se calcula en un paso: dos multiplicaciones simples. Es una cota superior — el PIB incluye autopartes y vehículos, que no compiten con la apertura.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A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GENERAL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simulador, tres preguntas distintas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82296" cy="82296"/>
          </a:xfrm>
          <a:prstGeom prst="ellipse">
            <a:avLst/>
          </a:prstGeom>
          <a:solidFill>
            <a:srgbClr val="C7A25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92808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casos comparten el mismo mecanismo de carga — Estímulos Nacionales, Modo Comparado — y las mismas advertencias de fondo: estática comparativa, coeficientes fijos, el modelo no anticipa.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82296" cy="82296"/>
          </a:xfrm>
          <a:prstGeom prst="ellipse">
            <a:avLst/>
          </a:prstGeom>
          <a:solidFill>
            <a:srgbClr val="C7A25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34056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1 tiene el dato más sólido (cuota oficial en toneladas). Los Casos 2 y 3 son ejercicios de sensibilidad, construidos para abrir la discusión del taller, no para cerrarla con una cifra.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39896"/>
            <a:ext cx="82296" cy="82296"/>
          </a:xfrm>
          <a:prstGeom prst="ellipse">
            <a:avLst/>
          </a:prstGeom>
          <a:solidFill>
            <a:srgbClr val="C7A25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75304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resultado de estos tres casos es definitivo mientras el acuerdo siga en aplicación provisional y pendiente del fallo del Tribunal de Justicia de la UE, esperado para fines de 2027.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7A2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modelo contabiliza, no anticipa.”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SIMULADOR MIP PARAGUAY · CASO APLICADO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9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2026-08-21T12:14:27Z</dcterms:created>
  <dcterms:modified xsi:type="dcterms:W3CDTF">2026-08-21T12:14:27Z</dcterms:modified>
</cp:coreProperties>
</file>