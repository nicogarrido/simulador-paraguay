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Hacia atrás (poder de dispersión)</c:v>
                </c:pt>
              </c:strCache>
            </c:strRef>
          </c:tx>
          <c:spPr>
            <a:solidFill>
              <a:srgbClr val="3D5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Agricultura</c:v>
                  </c:pt>
                  <c:pt idx="1">
                    <c:v>Minería</c:v>
                  </c:pt>
                  <c:pt idx="2">
                    <c:v>Alimentos</c:v>
                  </c:pt>
                  <c:pt idx="3">
                    <c:v>Electricidad</c:v>
                  </c:pt>
                  <c:pt idx="4">
                    <c:v>Construcción</c:v>
                  </c:pt>
                  <c:pt idx="5">
                    <c:v>Comercio</c:v>
                  </c:pt>
                  <c:pt idx="6">
                    <c:v>Telecom.</c:v>
                  </c:pt>
                  <c:pt idx="7">
                    <c:v>Serv. empresas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1.17</c:v>
                </c:pt>
                <c:pt idx="1">
                  <c:v>1.25</c:v>
                </c:pt>
                <c:pt idx="2">
                  <c:v>1.45</c:v>
                </c:pt>
                <c:pt idx="3">
                  <c:v>0.93</c:v>
                </c:pt>
                <c:pt idx="4">
                  <c:v>1.23</c:v>
                </c:pt>
                <c:pt idx="5">
                  <c:v>1.2</c:v>
                </c:pt>
                <c:pt idx="6">
                  <c:v>1.34</c:v>
                </c:pt>
                <c:pt idx="7">
                  <c:v>1.25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Hacia adelante (sensibilidad)</c:v>
                </c:pt>
              </c:strCache>
            </c:strRef>
          </c:tx>
          <c:spPr>
            <a:solidFill>
              <a:srgbClr val="1A6B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Agricultura</c:v>
                  </c:pt>
                  <c:pt idx="1">
                    <c:v>Minería</c:v>
                  </c:pt>
                  <c:pt idx="2">
                    <c:v>Alimentos</c:v>
                  </c:pt>
                  <c:pt idx="3">
                    <c:v>Electricidad</c:v>
                  </c:pt>
                  <c:pt idx="4">
                    <c:v>Construcción</c:v>
                  </c:pt>
                  <c:pt idx="5">
                    <c:v>Comercio</c:v>
                  </c:pt>
                  <c:pt idx="6">
                    <c:v>Telecom.</c:v>
                  </c:pt>
                  <c:pt idx="7">
                    <c:v>Serv. empresas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1.35</c:v>
                </c:pt>
                <c:pt idx="1">
                  <c:v>0.97</c:v>
                </c:pt>
                <c:pt idx="2">
                  <c:v>1.13</c:v>
                </c:pt>
                <c:pt idx="3">
                  <c:v>1.3</c:v>
                </c:pt>
                <c:pt idx="4">
                  <c:v>0.99</c:v>
                </c:pt>
                <c:pt idx="5">
                  <c:v>2.34</c:v>
                </c:pt>
                <c:pt idx="6">
                  <c:v>1.52</c:v>
                </c:pt>
                <c:pt idx="7">
                  <c:v>1.36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Referencia (1,0)</c:v>
                </c:pt>
              </c:strCache>
            </c:strRef>
          </c:tx>
          <c:spPr>
            <a:solidFill>
              <a:srgbClr val="717D7E"/>
            </a:solidFill>
            <a:ln w="19050" cap="flat">
              <a:solidFill>
                <a:srgbClr val="717D7E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717D7E"/>
              </a:solidFill>
              <a:ln w="9525" cap="flat">
                <a:solidFill>
                  <a:srgbClr val="717D7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Agricultura</c:v>
                  </c:pt>
                  <c:pt idx="1">
                    <c:v>Minería</c:v>
                  </c:pt>
                  <c:pt idx="2">
                    <c:v>Alimentos</c:v>
                  </c:pt>
                  <c:pt idx="3">
                    <c:v>Electricidad</c:v>
                  </c:pt>
                  <c:pt idx="4">
                    <c:v>Construcción</c:v>
                  </c:pt>
                  <c:pt idx="5">
                    <c:v>Comercio</c:v>
                  </c:pt>
                  <c:pt idx="6">
                    <c:v>Telecom.</c:v>
                  </c:pt>
                  <c:pt idx="7">
                    <c:v>Serv. empresas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9E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50" b="0" i="0" u="none" strike="noStrike">
                    <a:solidFill>
                      <a:srgbClr val="717D7E"/>
                    </a:solidFill>
                    <a:latin typeface="Arial"/>
                  </a:defRPr>
                </a:pPr>
                <a:r>
                  <a:rPr sz="950" b="0" i="0" u="none" strike="noStrike">
                    <a:solidFill>
                      <a:srgbClr val="717D7E"/>
                    </a:solidFill>
                    <a:latin typeface="Arial"/>
                  </a:rPr>
                  <a:t>Índice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1A1A1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5029200"/>
            <a:ext cx="822960" cy="822960"/>
          </a:xfrm>
          <a:prstGeom prst="ellipse">
            <a:avLst/>
          </a:prstGeom>
          <a:solidFill>
            <a:srgbClr val="2C3E50"/>
          </a:solidFill>
          <a:ln w="12700">
            <a:solidFill>
              <a:srgbClr val="3D5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480560"/>
            <a:ext cx="548640" cy="548640"/>
          </a:xfrm>
          <a:prstGeom prst="ellipse">
            <a:avLst/>
          </a:prstGeom>
          <a:solidFill>
            <a:srgbClr val="2C3E50"/>
          </a:solidFill>
          <a:ln w="12700">
            <a:solidFill>
              <a:srgbClr val="3D56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66960" y="5852160"/>
            <a:ext cx="457200" cy="457200"/>
          </a:xfrm>
          <a:prstGeom prst="ellipse">
            <a:avLst/>
          </a:prstGeom>
          <a:solidFill>
            <a:srgbClr val="2C3E50"/>
          </a:solidFill>
          <a:ln w="12700">
            <a:solidFill>
              <a:srgbClr val="3D5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55680" y="5394960"/>
            <a:ext cx="365760" cy="365760"/>
          </a:xfrm>
          <a:prstGeom prst="ellipse">
            <a:avLst/>
          </a:prstGeom>
          <a:solidFill>
            <a:srgbClr val="2C3E50"/>
          </a:solidFill>
          <a:ln w="12700">
            <a:solidFill>
              <a:srgbClr val="3D5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0" y="5760720"/>
            <a:ext cx="320040" cy="320040"/>
          </a:xfrm>
          <a:prstGeom prst="ellipse">
            <a:avLst/>
          </a:prstGeom>
          <a:solidFill>
            <a:srgbClr val="2C3E50"/>
          </a:solidFill>
          <a:ln w="12700">
            <a:solidFill>
              <a:srgbClr val="3D56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21240" y="5257800"/>
            <a:ext cx="502920" cy="502920"/>
          </a:xfrm>
          <a:prstGeom prst="ellipse">
            <a:avLst/>
          </a:prstGeom>
          <a:solidFill>
            <a:srgbClr val="1A6B8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630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SIMULADOR MIP PARAGUAY  ·  SECCIÓN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" y="19202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estructura del simulador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640080" y="306324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hay en cada hoja, cómo se conectan y qué lógica sigue el cálculo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7490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del simulador de impacto construido sobre la Matriz Insumo-Producto de Paraguay 2024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8368" y="4754880"/>
            <a:ext cx="2194560" cy="0"/>
          </a:xfrm>
          <a:prstGeom prst="line">
            <a:avLst/>
          </a:prstGeom>
          <a:noFill/>
          <a:ln w="19050">
            <a:solidFill>
              <a:srgbClr val="3D5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937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Nicolás Garrido  ·  Economista, Consultor OIT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526694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 Paraguay 2024 (CEPAL–OIT)  ·  Marco multirregional FIGARO–CEPAL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 ESTA SECCIÓN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2900" b="1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“Presentar la estructura del simulador y cómo funciona: el mapa de la herramienta.”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11064240" cy="2240280"/>
          </a:xfrm>
          <a:prstGeom prst="roundRect">
            <a:avLst>
              <a:gd name="adj" fmla="val 3673"/>
            </a:avLst>
          </a:prstGeom>
          <a:solidFill>
            <a:srgbClr val="F4F6F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286000"/>
            <a:ext cx="100584" cy="1965960"/>
          </a:xfrm>
          <a:prstGeom prst="roundRect">
            <a:avLst>
              <a:gd name="adj" fmla="val 18182"/>
            </a:avLst>
          </a:prstGeom>
          <a:solidFill>
            <a:srgbClr val="1A6B8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33172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 EL SIMULADOR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670048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100" b="1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“El usuario especifica un estímulo de demanda que espera observar en la economía, y el simulador desglosa el efecto de ese cambio.”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68680" y="365760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es toda la herramienta: se plantea un “¿qué pasaría si…?” y se obtiene la respuesta desagregada — por canal, por sector y por variable.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61772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resto del taller supone este mapa.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6928" y="5138928"/>
            <a:ext cx="2377440" cy="0"/>
          </a:xfrm>
          <a:prstGeom prst="line">
            <a:avLst/>
          </a:prstGeom>
          <a:noFill/>
          <a:ln w="19050">
            <a:solidFill>
              <a:srgbClr val="D5D8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5285232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este mapa los resultados se leen mal: es fácil confundir un efecto indirecto con uno directo, o tomar por predicción lo que es una contabilidad.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MIP Paraguay  ·  Taller, Sección 1 — La estructura del simulador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MAPA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simulador está construido en Excel: tiene 17 hojas, organizadas en cuatro capas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97480" cy="3383280"/>
          </a:xfrm>
          <a:prstGeom prst="roundRect">
            <a:avLst>
              <a:gd name="adj" fmla="val 3051"/>
            </a:avLst>
          </a:prstGeom>
          <a:solidFill>
            <a:srgbClr val="FAFBFC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45920"/>
            <a:ext cx="2697480" cy="502920"/>
          </a:xfrm>
          <a:prstGeom prst="roundRect">
            <a:avLst>
              <a:gd name="adj" fmla="val 16364"/>
            </a:avLst>
          </a:prstGeom>
          <a:solidFill>
            <a:srgbClr val="1A6B8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01952"/>
            <a:ext cx="2697480" cy="246888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645920"/>
            <a:ext cx="2478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58368" y="2267712"/>
            <a:ext cx="2478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Estímulos Nacionales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" y="2615184"/>
            <a:ext cx="2478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Estímulos Internacionales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8368" y="4645152"/>
            <a:ext cx="2478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editan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502152" y="1645920"/>
            <a:ext cx="2697480" cy="3383280"/>
          </a:xfrm>
          <a:prstGeom prst="roundRect">
            <a:avLst>
              <a:gd name="adj" fmla="val 3051"/>
            </a:avLst>
          </a:prstGeom>
          <a:solidFill>
            <a:srgbClr val="FAFBFC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02152" y="1645920"/>
            <a:ext cx="2697480" cy="502920"/>
          </a:xfrm>
          <a:prstGeom prst="roundRect">
            <a:avLst>
              <a:gd name="adj" fmla="val 16364"/>
            </a:avLst>
          </a:prstGeom>
          <a:solidFill>
            <a:srgbClr val="2980B9"/>
          </a:solidFill>
          <a:ln/>
        </p:spPr>
      </p:sp>
      <p:sp>
        <p:nvSpPr>
          <p:cNvPr id="13" name="Shape 11"/>
          <p:cNvSpPr/>
          <p:nvPr/>
        </p:nvSpPr>
        <p:spPr>
          <a:xfrm>
            <a:off x="3502152" y="1901952"/>
            <a:ext cx="2697480" cy="246888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4" name="Text 12"/>
          <p:cNvSpPr/>
          <p:nvPr/>
        </p:nvSpPr>
        <p:spPr>
          <a:xfrm>
            <a:off x="3611880" y="1645920"/>
            <a:ext cx="2478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611880" y="2267712"/>
            <a:ext cx="2478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11880" y="2615184"/>
            <a:ext cx="2478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11880" y="2962656"/>
            <a:ext cx="2478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11880" y="3310128"/>
            <a:ext cx="2478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Empleo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11880" y="3657600"/>
            <a:ext cx="2478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Laboral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11880" y="4645152"/>
            <a:ext cx="2478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— cambian con el escenario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455664" y="1645920"/>
            <a:ext cx="2697480" cy="3383280"/>
          </a:xfrm>
          <a:prstGeom prst="roundRect">
            <a:avLst>
              <a:gd name="adj" fmla="val 3051"/>
            </a:avLst>
          </a:prstGeom>
          <a:solidFill>
            <a:srgbClr val="FAFBFC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55664" y="1645920"/>
            <a:ext cx="2697480" cy="502920"/>
          </a:xfrm>
          <a:prstGeom prst="roundRect">
            <a:avLst>
              <a:gd name="adj" fmla="val 16364"/>
            </a:avLst>
          </a:prstGeom>
          <a:solidFill>
            <a:srgbClr val="3D566E"/>
          </a:solidFill>
          <a:ln/>
        </p:spPr>
      </p:sp>
      <p:sp>
        <p:nvSpPr>
          <p:cNvPr id="23" name="Shape 21"/>
          <p:cNvSpPr/>
          <p:nvPr/>
        </p:nvSpPr>
        <p:spPr>
          <a:xfrm>
            <a:off x="6455664" y="1901952"/>
            <a:ext cx="2697480" cy="246888"/>
          </a:xfrm>
          <a:prstGeom prst="rect">
            <a:avLst/>
          </a:prstGeom>
          <a:solidFill>
            <a:srgbClr val="3D566E"/>
          </a:solidFill>
          <a:ln/>
        </p:spPr>
      </p:sp>
      <p:sp>
        <p:nvSpPr>
          <p:cNvPr id="24" name="Text 22"/>
          <p:cNvSpPr/>
          <p:nvPr/>
        </p:nvSpPr>
        <p:spPr>
          <a:xfrm>
            <a:off x="6565392" y="1645920"/>
            <a:ext cx="2478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estructural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565392" y="2267712"/>
            <a:ext cx="2478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Encadenamientos Internos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565392" y="2615184"/>
            <a:ext cx="2478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Empleo Exportador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65392" y="2962656"/>
            <a:ext cx="2478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Inserción Internacional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565392" y="4645152"/>
            <a:ext cx="2478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describen 2024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409176" y="1645920"/>
            <a:ext cx="2697480" cy="3383280"/>
          </a:xfrm>
          <a:prstGeom prst="roundRect">
            <a:avLst>
              <a:gd name="adj" fmla="val 3051"/>
            </a:avLst>
          </a:prstGeom>
          <a:solidFill>
            <a:srgbClr val="FAFBFC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409176" y="1645920"/>
            <a:ext cx="2697480" cy="502920"/>
          </a:xfrm>
          <a:prstGeom prst="roundRect">
            <a:avLst>
              <a:gd name="adj" fmla="val 16364"/>
            </a:avLst>
          </a:prstGeom>
          <a:solidFill>
            <a:srgbClr val="2C3E50"/>
          </a:solidFill>
          <a:ln/>
        </p:spPr>
      </p:sp>
      <p:sp>
        <p:nvSpPr>
          <p:cNvPr id="31" name="Shape 29"/>
          <p:cNvSpPr/>
          <p:nvPr/>
        </p:nvSpPr>
        <p:spPr>
          <a:xfrm>
            <a:off x="9409176" y="1901952"/>
            <a:ext cx="2697480" cy="246888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2" name="Text 30"/>
          <p:cNvSpPr/>
          <p:nvPr/>
        </p:nvSpPr>
        <p:spPr>
          <a:xfrm>
            <a:off x="9518904" y="1645920"/>
            <a:ext cx="2478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518904" y="2267712"/>
            <a:ext cx="2478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Matrices Nacionales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518904" y="2615184"/>
            <a:ext cx="2478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Agregación sectorial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518904" y="2962656"/>
            <a:ext cx="2478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Empleo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9518904" y="3310128"/>
            <a:ext cx="2478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MRIO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9518904" y="3657600"/>
            <a:ext cx="2478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Exportaciones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9518904" y="4005072"/>
            <a:ext cx="2478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9518904" y="4645152"/>
            <a:ext cx="2478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son el motor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48640" y="5166360"/>
            <a:ext cx="5532120" cy="822960"/>
          </a:xfrm>
          <a:prstGeom prst="roundRect">
            <a:avLst>
              <a:gd name="adj" fmla="val 10000"/>
            </a:avLst>
          </a:prstGeom>
          <a:solidFill>
            <a:srgbClr val="F4F6F7"/>
          </a:solidFill>
          <a:ln/>
        </p:spPr>
      </p:sp>
      <p:sp>
        <p:nvSpPr>
          <p:cNvPr id="41" name="Shape 39"/>
          <p:cNvSpPr/>
          <p:nvPr/>
        </p:nvSpPr>
        <p:spPr>
          <a:xfrm>
            <a:off x="549554" y="5276088"/>
            <a:ext cx="100584" cy="603504"/>
          </a:xfrm>
          <a:prstGeom prst="roundRect">
            <a:avLst>
              <a:gd name="adj" fmla="val 18182"/>
            </a:avLst>
          </a:prstGeom>
          <a:solidFill>
            <a:srgbClr val="1A6B8A"/>
          </a:solidFill>
          <a:ln/>
        </p:spPr>
      </p:sp>
      <p:sp>
        <p:nvSpPr>
          <p:cNvPr id="42" name="Text 40"/>
          <p:cNvSpPr/>
          <p:nvPr/>
        </p:nvSpPr>
        <p:spPr>
          <a:xfrm>
            <a:off x="868680" y="530352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práctica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868680" y="5623560"/>
            <a:ext cx="4983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una hoja cambia al cargar un estímulo, es de resultados. Si no cambia, describe la economía tal como es.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355080" y="5166360"/>
            <a:ext cx="5257800" cy="822960"/>
          </a:xfrm>
          <a:prstGeom prst="roundRect">
            <a:avLst>
              <a:gd name="adj" fmla="val 10000"/>
            </a:avLst>
          </a:prstGeom>
          <a:solidFill>
            <a:srgbClr val="F4F6F7"/>
          </a:solidFill>
          <a:ln/>
        </p:spPr>
      </p:sp>
      <p:sp>
        <p:nvSpPr>
          <p:cNvPr id="45" name="Shape 43"/>
          <p:cNvSpPr/>
          <p:nvPr/>
        </p:nvSpPr>
        <p:spPr>
          <a:xfrm>
            <a:off x="6355994" y="5276088"/>
            <a:ext cx="100584" cy="603504"/>
          </a:xfrm>
          <a:prstGeom prst="roundRect">
            <a:avLst>
              <a:gd name="adj" fmla="val 18182"/>
            </a:avLst>
          </a:prstGeom>
          <a:solidFill>
            <a:srgbClr val="717D7E"/>
          </a:solidFill>
          <a:ln/>
        </p:spPr>
      </p:sp>
      <p:sp>
        <p:nvSpPr>
          <p:cNvPr id="46" name="Text 44"/>
          <p:cNvSpPr/>
          <p:nvPr/>
        </p:nvSpPr>
        <p:spPr>
          <a:xfrm>
            <a:off x="6675120" y="5303520"/>
            <a:ext cx="4709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(aparte)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6675120" y="5623560"/>
            <a:ext cx="4709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y Créditos: guía rápida de uso, equipo y fuentes. No intervienen en ningún cálculo.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hoja está documentada por separado en el sitio del taller:  </a:t>
            </a:r>
            <a:pPr indent="0" marL="0">
              <a:buNone/>
            </a:pPr>
            <a:r>
              <a:rPr lang="en-US" sz="1050" b="1" i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https://nicogarrido.github.io/Simulador-Paraguay/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MIP Paraguay  ·  Taller, Sección 1 — La estructura del simulador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MAPA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cuatro conceptos que organizan todo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Estructuran cada hoja de resultados. Una vez entendidos, sirven para las cuatro.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423160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2C3E50"/>
          </a:solidFill>
          <a:ln/>
        </p:spPr>
      </p:sp>
      <p:sp>
        <p:nvSpPr>
          <p:cNvPr id="6" name="Shape 4"/>
          <p:cNvSpPr/>
          <p:nvPr/>
        </p:nvSpPr>
        <p:spPr>
          <a:xfrm>
            <a:off x="1732788" y="2130552"/>
            <a:ext cx="512064" cy="512064"/>
          </a:xfrm>
          <a:prstGeom prst="ellipse">
            <a:avLst/>
          </a:prstGeom>
          <a:solidFill>
            <a:srgbClr val="3D566E"/>
          </a:solidFill>
          <a:ln/>
        </p:spPr>
      </p:sp>
      <p:sp>
        <p:nvSpPr>
          <p:cNvPr id="7" name="Text 5"/>
          <p:cNvSpPr/>
          <p:nvPr/>
        </p:nvSpPr>
        <p:spPr>
          <a:xfrm>
            <a:off x="1732788" y="21305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95528" y="2807208"/>
            <a:ext cx="2386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 inicial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68680" y="3264408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propio estímulo de demanda que se ingresa.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3374136"/>
            <a:ext cx="228600" cy="201168"/>
          </a:xfrm>
          <a:prstGeom prst="rightArrow">
            <a:avLst/>
          </a:prstGeom>
          <a:solidFill>
            <a:srgbClr val="1A6B8A"/>
          </a:solidFill>
          <a:ln/>
        </p:spPr>
      </p:sp>
      <p:sp>
        <p:nvSpPr>
          <p:cNvPr id="11" name="Shape 9"/>
          <p:cNvSpPr/>
          <p:nvPr/>
        </p:nvSpPr>
        <p:spPr>
          <a:xfrm>
            <a:off x="3611880" y="2423160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2C3E50"/>
          </a:solidFill>
          <a:ln/>
        </p:spPr>
      </p:sp>
      <p:sp>
        <p:nvSpPr>
          <p:cNvPr id="12" name="Shape 10"/>
          <p:cNvSpPr/>
          <p:nvPr/>
        </p:nvSpPr>
        <p:spPr>
          <a:xfrm>
            <a:off x="4658868" y="2130552"/>
            <a:ext cx="512064" cy="512064"/>
          </a:xfrm>
          <a:prstGeom prst="ellipse">
            <a:avLst/>
          </a:prstGeom>
          <a:solidFill>
            <a:srgbClr val="3D566E"/>
          </a:solidFill>
          <a:ln/>
        </p:spPr>
      </p:sp>
      <p:sp>
        <p:nvSpPr>
          <p:cNvPr id="13" name="Text 11"/>
          <p:cNvSpPr/>
          <p:nvPr/>
        </p:nvSpPr>
        <p:spPr>
          <a:xfrm>
            <a:off x="4658868" y="21305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21608" y="2807208"/>
            <a:ext cx="2386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 directo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794760" y="3264408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insumos que el sector estimulado compra a sus proveedores inmediatos.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3374136"/>
            <a:ext cx="228600" cy="201168"/>
          </a:xfrm>
          <a:prstGeom prst="rightArrow">
            <a:avLst/>
          </a:prstGeom>
          <a:solidFill>
            <a:srgbClr val="1A6B8A"/>
          </a:solidFill>
          <a:ln/>
        </p:spPr>
      </p:sp>
      <p:sp>
        <p:nvSpPr>
          <p:cNvPr id="17" name="Shape 15"/>
          <p:cNvSpPr/>
          <p:nvPr/>
        </p:nvSpPr>
        <p:spPr>
          <a:xfrm>
            <a:off x="6537960" y="2423160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2C3E50"/>
          </a:solidFill>
          <a:ln/>
        </p:spPr>
      </p:sp>
      <p:sp>
        <p:nvSpPr>
          <p:cNvPr id="18" name="Shape 16"/>
          <p:cNvSpPr/>
          <p:nvPr/>
        </p:nvSpPr>
        <p:spPr>
          <a:xfrm>
            <a:off x="7584948" y="2130552"/>
            <a:ext cx="512064" cy="512064"/>
          </a:xfrm>
          <a:prstGeom prst="ellipse">
            <a:avLst/>
          </a:prstGeom>
          <a:solidFill>
            <a:srgbClr val="3D566E"/>
          </a:solidFill>
          <a:ln/>
        </p:spPr>
      </p:sp>
      <p:sp>
        <p:nvSpPr>
          <p:cNvPr id="19" name="Text 17"/>
          <p:cNvSpPr/>
          <p:nvPr/>
        </p:nvSpPr>
        <p:spPr>
          <a:xfrm>
            <a:off x="7584948" y="21305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47688" y="2807208"/>
            <a:ext cx="2386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 indirecto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720840" y="3264408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rondas sucesivas de compras a lo largo de toda la cadena.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189720" y="3374136"/>
            <a:ext cx="228600" cy="201168"/>
          </a:xfrm>
          <a:prstGeom prst="rightArrow">
            <a:avLst/>
          </a:prstGeom>
          <a:solidFill>
            <a:srgbClr val="1A6B8A"/>
          </a:solidFill>
          <a:ln/>
        </p:spPr>
      </p:sp>
      <p:sp>
        <p:nvSpPr>
          <p:cNvPr id="23" name="Shape 21"/>
          <p:cNvSpPr/>
          <p:nvPr/>
        </p:nvSpPr>
        <p:spPr>
          <a:xfrm>
            <a:off x="9464040" y="2423160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2C3E50"/>
          </a:solidFill>
          <a:ln/>
        </p:spPr>
      </p:sp>
      <p:sp>
        <p:nvSpPr>
          <p:cNvPr id="24" name="Shape 22"/>
          <p:cNvSpPr/>
          <p:nvPr/>
        </p:nvSpPr>
        <p:spPr>
          <a:xfrm>
            <a:off x="10511028" y="2130552"/>
            <a:ext cx="512064" cy="512064"/>
          </a:xfrm>
          <a:prstGeom prst="ellipse">
            <a:avLst/>
          </a:prstGeom>
          <a:solidFill>
            <a:srgbClr val="3D566E"/>
          </a:solidFill>
          <a:ln/>
        </p:spPr>
      </p:sp>
      <p:sp>
        <p:nvSpPr>
          <p:cNvPr id="25" name="Text 23"/>
          <p:cNvSpPr/>
          <p:nvPr/>
        </p:nvSpPr>
        <p:spPr>
          <a:xfrm>
            <a:off x="10511028" y="21305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573768" y="2807208"/>
            <a:ext cx="2386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 inducido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646920" y="3264408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aparece cuando los hogares gastan los nuevos ingresos generados.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5800" y="4937760"/>
            <a:ext cx="10789920" cy="1051560"/>
          </a:xfrm>
          <a:prstGeom prst="roundRect">
            <a:avLst>
              <a:gd name="adj" fmla="val 7826"/>
            </a:avLst>
          </a:prstGeom>
          <a:solidFill>
            <a:srgbClr val="2C3E50"/>
          </a:solidFill>
          <a:ln/>
        </p:spPr>
      </p:sp>
      <p:sp>
        <p:nvSpPr>
          <p:cNvPr id="29" name="Shape 27"/>
          <p:cNvSpPr/>
          <p:nvPr/>
        </p:nvSpPr>
        <p:spPr>
          <a:xfrm>
            <a:off x="685800" y="5047488"/>
            <a:ext cx="100584" cy="832104"/>
          </a:xfrm>
          <a:prstGeom prst="roundRect">
            <a:avLst>
              <a:gd name="adj" fmla="val 18182"/>
            </a:avLst>
          </a:prstGeom>
          <a:solidFill>
            <a:srgbClr val="1A6B8A"/>
          </a:solidFill>
          <a:ln/>
        </p:spPr>
      </p:sp>
      <p:sp>
        <p:nvSpPr>
          <p:cNvPr id="30" name="Text 28"/>
          <p:cNvSpPr/>
          <p:nvPr/>
        </p:nvSpPr>
        <p:spPr>
          <a:xfrm>
            <a:off x="1005840" y="5138928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Además, cada efecto se separa en un componente nacional — dentro de Paraguay — y uno internacional, a través de las cadenas con el resto del mundo.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MIP Paraguay  ·  Taller, Sección 1 — La estructura del simulador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MAPA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 distinguirlos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Colapsar los cuatro canales en un solo número borra justamente lo que hace útil al modelo.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1064240" cy="804672"/>
          </a:xfrm>
          <a:prstGeom prst="roundRect">
            <a:avLst>
              <a:gd name="adj" fmla="val 10227"/>
            </a:avLst>
          </a:prstGeom>
          <a:solidFill>
            <a:srgbClr val="F4F6F7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2276856"/>
            <a:ext cx="100584" cy="457200"/>
          </a:xfrm>
          <a:prstGeom prst="roundRect">
            <a:avLst>
              <a:gd name="adj" fmla="val 18182"/>
            </a:avLst>
          </a:prstGeom>
          <a:solidFill>
            <a:srgbClr val="1A6B8A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103120"/>
            <a:ext cx="4206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Confianza decreciente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394960" y="2103120"/>
            <a:ext cx="6035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inicial es un supuesto; directo e indirecto son contabilidad; el inducido agrega un supuesto de consumo.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11064240" cy="804672"/>
          </a:xfrm>
          <a:prstGeom prst="roundRect">
            <a:avLst>
              <a:gd name="adj" fmla="val 10227"/>
            </a:avLst>
          </a:prstGeom>
          <a:solidFill>
            <a:srgbClr val="F4F6F7"/>
          </a:solidFill>
          <a:ln/>
        </p:spPr>
      </p:sp>
      <p:sp>
        <p:nvSpPr>
          <p:cNvPr id="10" name="Shape 8"/>
          <p:cNvSpPr/>
          <p:nvPr/>
        </p:nvSpPr>
        <p:spPr>
          <a:xfrm>
            <a:off x="749808" y="3145536"/>
            <a:ext cx="100584" cy="457200"/>
          </a:xfrm>
          <a:prstGeom prst="roundRect">
            <a:avLst>
              <a:gd name="adj" fmla="val 18182"/>
            </a:avLst>
          </a:prstGeom>
          <a:solidFill>
            <a:srgbClr val="2980B9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2971800"/>
            <a:ext cx="4206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brecha directo/indirecto es el diagnóstico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394960" y="2971800"/>
            <a:ext cx="6035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 un enclave de un sector integrado al aparato productivo.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11064240" cy="804672"/>
          </a:xfrm>
          <a:prstGeom prst="roundRect">
            <a:avLst>
              <a:gd name="adj" fmla="val 10227"/>
            </a:avLst>
          </a:prstGeom>
          <a:solidFill>
            <a:srgbClr val="F4F6F7"/>
          </a:solidFill>
          <a:ln/>
        </p:spPr>
      </p:sp>
      <p:sp>
        <p:nvSpPr>
          <p:cNvPr id="14" name="Shape 12"/>
          <p:cNvSpPr/>
          <p:nvPr/>
        </p:nvSpPr>
        <p:spPr>
          <a:xfrm>
            <a:off x="749808" y="4014216"/>
            <a:ext cx="100584" cy="457200"/>
          </a:xfrm>
          <a:prstGeom prst="roundRect">
            <a:avLst>
              <a:gd name="adj" fmla="val 18182"/>
            </a:avLst>
          </a:prstGeom>
          <a:solidFill>
            <a:srgbClr val="3D566E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3840480"/>
            <a:ext cx="4206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canal tiene su palanca de política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394960" y="3840480"/>
            <a:ext cx="6035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 ·  política industrial y contenido local  ·  salarios e ingresos.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709160"/>
            <a:ext cx="11064240" cy="804672"/>
          </a:xfrm>
          <a:prstGeom prst="roundRect">
            <a:avLst>
              <a:gd name="adj" fmla="val 10227"/>
            </a:avLst>
          </a:prstGeom>
          <a:solidFill>
            <a:srgbClr val="F4F6F7"/>
          </a:solidFill>
          <a:ln/>
        </p:spPr>
      </p:sp>
      <p:sp>
        <p:nvSpPr>
          <p:cNvPr id="18" name="Shape 16"/>
          <p:cNvSpPr/>
          <p:nvPr/>
        </p:nvSpPr>
        <p:spPr>
          <a:xfrm>
            <a:off x="749808" y="4882896"/>
            <a:ext cx="100584" cy="457200"/>
          </a:xfrm>
          <a:prstGeom prst="roundRect">
            <a:avLst>
              <a:gd name="adj" fmla="val 18182"/>
            </a:avLst>
          </a:prstGeom>
          <a:solidFill>
            <a:srgbClr val="2C3E50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4709160"/>
            <a:ext cx="4206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filtración al exterior vive en el indirecto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394960" y="4709160"/>
            <a:ext cx="6035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Ahí es donde la cadena se va afuera.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5577840"/>
            <a:ext cx="11064240" cy="804672"/>
          </a:xfrm>
          <a:prstGeom prst="roundRect">
            <a:avLst>
              <a:gd name="adj" fmla="val 10227"/>
            </a:avLst>
          </a:prstGeom>
          <a:solidFill>
            <a:srgbClr val="F4F6F7"/>
          </a:solidFill>
          <a:ln/>
        </p:spPr>
      </p:sp>
      <p:sp>
        <p:nvSpPr>
          <p:cNvPr id="22" name="Shape 20"/>
          <p:cNvSpPr/>
          <p:nvPr/>
        </p:nvSpPr>
        <p:spPr>
          <a:xfrm>
            <a:off x="749808" y="5751576"/>
            <a:ext cx="100584" cy="457200"/>
          </a:xfrm>
          <a:prstGeom prst="roundRect">
            <a:avLst>
              <a:gd name="adj" fmla="val 18182"/>
            </a:avLst>
          </a:prstGeom>
          <a:solidFill>
            <a:srgbClr val="1A6B8A"/>
          </a:solidFill>
          <a:ln/>
        </p:spPr>
      </p:sp>
      <p:sp>
        <p:nvSpPr>
          <p:cNvPr id="23" name="Text 21"/>
          <p:cNvSpPr/>
          <p:nvPr/>
        </p:nvSpPr>
        <p:spPr>
          <a:xfrm>
            <a:off x="1051560" y="5577840"/>
            <a:ext cx="4206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multiplicador es esta anatomía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394960" y="5577840"/>
            <a:ext cx="6035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÷ inicial.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MIP Paraguay  ·  Taller, Sección 1 — La estructura del simulador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MAPA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modos de uso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alimentan las mismas hojas de resultados; lo que cambia es qué se carga y con qué propósito.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520440" cy="3931920"/>
          </a:xfrm>
          <a:prstGeom prst="roundRect">
            <a:avLst>
              <a:gd name="adj" fmla="val 2338"/>
            </a:avLst>
          </a:prstGeom>
          <a:solidFill>
            <a:srgbClr val="F4F6F7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57400"/>
            <a:ext cx="3520440" cy="685800"/>
          </a:xfrm>
          <a:prstGeom prst="rect">
            <a:avLst/>
          </a:prstGeom>
          <a:solidFill>
            <a:srgbClr val="3D566E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1488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20574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nacional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22960" y="297180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cambio en la demanda final doméstica, en uno o varios sectores.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3931920"/>
            <a:ext cx="29718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0690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4343400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pasa si el Estado invierte USD 50 M en Construcción?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43400" y="2057400"/>
            <a:ext cx="3520440" cy="3931920"/>
          </a:xfrm>
          <a:prstGeom prst="roundRect">
            <a:avLst>
              <a:gd name="adj" fmla="val 2338"/>
            </a:avLst>
          </a:prstGeom>
          <a:solidFill>
            <a:srgbClr val="F4F6F7"/>
          </a:solidFill>
          <a:ln/>
        </p:spPr>
      </p:sp>
      <p:sp>
        <p:nvSpPr>
          <p:cNvPr id="15" name="Shape 13"/>
          <p:cNvSpPr/>
          <p:nvPr/>
        </p:nvSpPr>
        <p:spPr>
          <a:xfrm>
            <a:off x="4343400" y="2057400"/>
            <a:ext cx="3520440" cy="685800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16" name="Shape 14"/>
          <p:cNvSpPr/>
          <p:nvPr/>
        </p:nvSpPr>
        <p:spPr>
          <a:xfrm>
            <a:off x="4526280" y="21488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2628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166360" y="20574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comparado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617720" y="297180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escenarios sobre las mismas variables, lado a lado.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17720" y="3931920"/>
            <a:ext cx="29718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40690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00600" y="4343400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mismo monto: ¿Textiles o Agroindustria genera más empleo?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38160" y="2057400"/>
            <a:ext cx="3520440" cy="3931920"/>
          </a:xfrm>
          <a:prstGeom prst="roundRect">
            <a:avLst>
              <a:gd name="adj" fmla="val 2338"/>
            </a:avLst>
          </a:prstGeom>
          <a:solidFill>
            <a:srgbClr val="F4F6F7"/>
          </a:solidFill>
          <a:ln/>
        </p:spPr>
      </p:sp>
      <p:sp>
        <p:nvSpPr>
          <p:cNvPr id="24" name="Shape 22"/>
          <p:cNvSpPr/>
          <p:nvPr/>
        </p:nvSpPr>
        <p:spPr>
          <a:xfrm>
            <a:off x="8138160" y="2057400"/>
            <a:ext cx="3520440" cy="6858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5" name="Shape 23"/>
          <p:cNvSpPr/>
          <p:nvPr/>
        </p:nvSpPr>
        <p:spPr>
          <a:xfrm>
            <a:off x="8321040" y="21488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832104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961120" y="20574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internacional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412480" y="297180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en la demanda de otras regiones. Paraguay es receptor.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412480" y="3931920"/>
            <a:ext cx="29718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95360" y="40690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595360" y="4343400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efecto tiene sobre Paraguay un +5% de demanda de la UE?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6108192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detalle operativo de cada modo está en «Los tres modos de uso», en la sección de referencia del sitio.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MIP Paraguay  ·  Taller, Sección 1 — La estructura del simulador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 PROPUESTO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vamos a recorrer el simulador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pasos, siguiendo el camino que hace el propio cálculo: de los datos a las entradas, de ahí a los resultados, y por último a la lectura estructural.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CAMINO QUE HACE EL PROPIO CÁLCULO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2560320" cy="1600200"/>
          </a:xfrm>
          <a:prstGeom prst="roundRect">
            <a:avLst>
              <a:gd name="adj" fmla="val 5143"/>
            </a:avLst>
          </a:prstGeom>
          <a:solidFill>
            <a:srgbClr val="F4F6F7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697480"/>
            <a:ext cx="2560320" cy="82296"/>
          </a:xfrm>
          <a:prstGeom prst="rect">
            <a:avLst/>
          </a:prstGeom>
          <a:solidFill>
            <a:srgbClr val="717D7E"/>
          </a:solidFill>
          <a:ln/>
        </p:spPr>
      </p:sp>
      <p:sp>
        <p:nvSpPr>
          <p:cNvPr id="8" name="Shape 6"/>
          <p:cNvSpPr/>
          <p:nvPr/>
        </p:nvSpPr>
        <p:spPr>
          <a:xfrm>
            <a:off x="1591056" y="2441448"/>
            <a:ext cx="475488" cy="475488"/>
          </a:xfrm>
          <a:prstGeom prst="ellipse">
            <a:avLst/>
          </a:prstGeom>
          <a:solidFill>
            <a:srgbClr val="717D7E"/>
          </a:solidFill>
          <a:ln/>
        </p:spPr>
      </p:sp>
      <p:sp>
        <p:nvSpPr>
          <p:cNvPr id="9" name="Text 7"/>
          <p:cNvSpPr/>
          <p:nvPr/>
        </p:nvSpPr>
        <p:spPr>
          <a:xfrm>
            <a:off x="1591056" y="24414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8368" y="3044952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dónde salen</a:t>
            </a:r>
            <a:endParaRPr lang="en-US" sz="13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3232" y="3611880"/>
            <a:ext cx="22311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fuentes y su año de referencia.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45536" y="3406140"/>
            <a:ext cx="228600" cy="182880"/>
          </a:xfrm>
          <a:prstGeom prst="rightArrow">
            <a:avLst/>
          </a:prstGeom>
          <a:solidFill>
            <a:srgbClr val="D5D8DC"/>
          </a:solidFill>
          <a:ln/>
        </p:spPr>
      </p:sp>
      <p:sp>
        <p:nvSpPr>
          <p:cNvPr id="13" name="Shape 11"/>
          <p:cNvSpPr/>
          <p:nvPr/>
        </p:nvSpPr>
        <p:spPr>
          <a:xfrm>
            <a:off x="3410712" y="2697480"/>
            <a:ext cx="2560320" cy="1600200"/>
          </a:xfrm>
          <a:prstGeom prst="roundRect">
            <a:avLst>
              <a:gd name="adj" fmla="val 5143"/>
            </a:avLst>
          </a:prstGeom>
          <a:solidFill>
            <a:srgbClr val="F4F6F7"/>
          </a:solidFill>
          <a:ln/>
        </p:spPr>
      </p:sp>
      <p:sp>
        <p:nvSpPr>
          <p:cNvPr id="14" name="Shape 12"/>
          <p:cNvSpPr/>
          <p:nvPr/>
        </p:nvSpPr>
        <p:spPr>
          <a:xfrm>
            <a:off x="3410712" y="2697480"/>
            <a:ext cx="2560320" cy="82296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5" name="Shape 13"/>
          <p:cNvSpPr/>
          <p:nvPr/>
        </p:nvSpPr>
        <p:spPr>
          <a:xfrm>
            <a:off x="4453128" y="2441448"/>
            <a:ext cx="475488" cy="475488"/>
          </a:xfrm>
          <a:prstGeom prst="ellipse">
            <a:avLst/>
          </a:prstGeom>
          <a:solidFill>
            <a:srgbClr val="2C3E50"/>
          </a:solidFill>
          <a:ln/>
        </p:spPr>
      </p:sp>
      <p:sp>
        <p:nvSpPr>
          <p:cNvPr id="16" name="Text 14"/>
          <p:cNvSpPr/>
          <p:nvPr/>
        </p:nvSpPr>
        <p:spPr>
          <a:xfrm>
            <a:off x="4453128" y="24414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520440" y="3044952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capa</a:t>
            </a:r>
            <a:endParaRPr lang="en-US" sz="13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datos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75304" y="3611880"/>
            <a:ext cx="22311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Matrices Nacionales: Z, A, L y el valor agregado. Verificar una identidad contable en vivo.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07608" y="3406140"/>
            <a:ext cx="228600" cy="182880"/>
          </a:xfrm>
          <a:prstGeom prst="rightArrow">
            <a:avLst/>
          </a:prstGeom>
          <a:solidFill>
            <a:srgbClr val="D5D8DC"/>
          </a:solidFill>
          <a:ln/>
        </p:spPr>
      </p:sp>
      <p:sp>
        <p:nvSpPr>
          <p:cNvPr id="20" name="Shape 18"/>
          <p:cNvSpPr/>
          <p:nvPr/>
        </p:nvSpPr>
        <p:spPr>
          <a:xfrm>
            <a:off x="6272784" y="2697480"/>
            <a:ext cx="2560320" cy="1600200"/>
          </a:xfrm>
          <a:prstGeom prst="roundRect">
            <a:avLst>
              <a:gd name="adj" fmla="val 5143"/>
            </a:avLst>
          </a:prstGeom>
          <a:solidFill>
            <a:srgbClr val="F4F6F7"/>
          </a:solidFill>
          <a:ln/>
        </p:spPr>
      </p:sp>
      <p:sp>
        <p:nvSpPr>
          <p:cNvPr id="21" name="Shape 19"/>
          <p:cNvSpPr/>
          <p:nvPr/>
        </p:nvSpPr>
        <p:spPr>
          <a:xfrm>
            <a:off x="6272784" y="2697480"/>
            <a:ext cx="2560320" cy="82296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0" y="2441448"/>
            <a:ext cx="475488" cy="475488"/>
          </a:xfrm>
          <a:prstGeom prst="ellipse">
            <a:avLst/>
          </a:prstGeom>
          <a:solidFill>
            <a:srgbClr val="1A6B8A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0" y="24414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382512" y="3044952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capa</a:t>
            </a:r>
            <a:endParaRPr lang="en-US" sz="13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entradas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37376" y="3611880"/>
            <a:ext cx="22311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modos de trabajo y la diferencia de unidades entre la hoja nacional y la internacional.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869680" y="3406140"/>
            <a:ext cx="228600" cy="182880"/>
          </a:xfrm>
          <a:prstGeom prst="rightArrow">
            <a:avLst/>
          </a:prstGeom>
          <a:solidFill>
            <a:srgbClr val="D5D8DC"/>
          </a:solidFill>
          <a:ln/>
        </p:spPr>
      </p:sp>
      <p:sp>
        <p:nvSpPr>
          <p:cNvPr id="27" name="Shape 25"/>
          <p:cNvSpPr/>
          <p:nvPr/>
        </p:nvSpPr>
        <p:spPr>
          <a:xfrm>
            <a:off x="9134856" y="2697480"/>
            <a:ext cx="2560320" cy="1600200"/>
          </a:xfrm>
          <a:prstGeom prst="roundRect">
            <a:avLst>
              <a:gd name="adj" fmla="val 5143"/>
            </a:avLst>
          </a:prstGeom>
          <a:solidFill>
            <a:srgbClr val="F4F6F7"/>
          </a:solidFill>
          <a:ln/>
        </p:spPr>
      </p:sp>
      <p:sp>
        <p:nvSpPr>
          <p:cNvPr id="28" name="Shape 26"/>
          <p:cNvSpPr/>
          <p:nvPr/>
        </p:nvSpPr>
        <p:spPr>
          <a:xfrm>
            <a:off x="9134856" y="2697480"/>
            <a:ext cx="2560320" cy="82296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29" name="Shape 27"/>
          <p:cNvSpPr/>
          <p:nvPr/>
        </p:nvSpPr>
        <p:spPr>
          <a:xfrm>
            <a:off x="10177272" y="2441448"/>
            <a:ext cx="475488" cy="475488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30" name="Text 28"/>
          <p:cNvSpPr/>
          <p:nvPr/>
        </p:nvSpPr>
        <p:spPr>
          <a:xfrm>
            <a:off x="10177272" y="24414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9244584" y="3044952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capa</a:t>
            </a:r>
            <a:endParaRPr lang="en-US" sz="13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resultados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299448" y="3611880"/>
            <a:ext cx="22311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estructura de columnas compartida y los efectos.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415016" y="4297680"/>
            <a:ext cx="0" cy="566928"/>
          </a:xfrm>
          <a:prstGeom prst="line">
            <a:avLst/>
          </a:prstGeom>
          <a:noFill/>
          <a:ln w="19050">
            <a:solidFill>
              <a:srgbClr val="D5D8DC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172200" y="4864608"/>
            <a:ext cx="5440680" cy="1234440"/>
          </a:xfrm>
          <a:prstGeom prst="roundRect">
            <a:avLst>
              <a:gd name="adj" fmla="val 6667"/>
            </a:avLst>
          </a:prstGeom>
          <a:solidFill>
            <a:srgbClr val="F4F6F7"/>
          </a:solidFill>
          <a:ln w="12700">
            <a:solidFill>
              <a:srgbClr val="3D566E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6400800" y="5138928"/>
            <a:ext cx="475488" cy="475488"/>
          </a:xfrm>
          <a:prstGeom prst="ellipse">
            <a:avLst/>
          </a:prstGeom>
          <a:solidFill>
            <a:srgbClr val="3D566E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51389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7040880" y="501091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capa estructural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7040880" y="5330952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preguntas responde y por qué no depende del escenario.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8640" y="4956048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del flujo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8640" y="5266944"/>
            <a:ext cx="5349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paso 5 va aparte a propósito: es la única capa que no depende del escenario cargado. Se puede leer sin correr nada.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MIP Paraguay  ·  Taller, Sección 1 — La estructura del simulador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 · DE DÓNDE SALEN LOS DATOS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fuentes, y cada una con su año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97480" cy="3017520"/>
          </a:xfrm>
          <a:prstGeom prst="roundRect">
            <a:avLst>
              <a:gd name="adj" fmla="val 3051"/>
            </a:avLst>
          </a:prstGeom>
          <a:solidFill>
            <a:srgbClr val="F4F6F7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920240"/>
            <a:ext cx="91440" cy="457200"/>
          </a:xfrm>
          <a:prstGeom prst="roundRect">
            <a:avLst>
              <a:gd name="adj" fmla="val 20000"/>
            </a:avLst>
          </a:prstGeom>
          <a:solidFill>
            <a:srgbClr val="1A6B8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8745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 Paraguay 2024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9808" y="249631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CEPAL – OIT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9808" y="2990088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matriz doméstica: transacciones entre sectores, valor agregado y demanda final. Es el corazón del modelo.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02152" y="1691640"/>
            <a:ext cx="2697480" cy="3017520"/>
          </a:xfrm>
          <a:prstGeom prst="roundRect">
            <a:avLst>
              <a:gd name="adj" fmla="val 3051"/>
            </a:avLst>
          </a:prstGeom>
          <a:solidFill>
            <a:srgbClr val="F4F6F7"/>
          </a:solidFill>
          <a:ln/>
        </p:spPr>
      </p:sp>
      <p:sp>
        <p:nvSpPr>
          <p:cNvPr id="10" name="Shape 8"/>
          <p:cNvSpPr/>
          <p:nvPr/>
        </p:nvSpPr>
        <p:spPr>
          <a:xfrm>
            <a:off x="3703320" y="1920240"/>
            <a:ext cx="91440" cy="457200"/>
          </a:xfrm>
          <a:prstGeom prst="roundRect">
            <a:avLst>
              <a:gd name="adj" fmla="val 20000"/>
            </a:avLst>
          </a:prstGeom>
          <a:solidFill>
            <a:srgbClr val="2980B9"/>
          </a:solidFill>
          <a:ln/>
        </p:spPr>
      </p:sp>
      <p:sp>
        <p:nvSpPr>
          <p:cNvPr id="11" name="Text 9"/>
          <p:cNvSpPr/>
          <p:nvPr/>
        </p:nvSpPr>
        <p:spPr>
          <a:xfrm>
            <a:off x="3913632" y="18745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EPHC 2024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703320" y="249631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 Permanente de Hogares Continua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03320" y="2990088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composición del empleo: sexo, calificación, formalidad y área.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55664" y="1691640"/>
            <a:ext cx="2697480" cy="3017520"/>
          </a:xfrm>
          <a:prstGeom prst="roundRect">
            <a:avLst>
              <a:gd name="adj" fmla="val 3051"/>
            </a:avLst>
          </a:prstGeom>
          <a:solidFill>
            <a:srgbClr val="F4F6F7"/>
          </a:solidFill>
          <a:ln/>
        </p:spPr>
      </p:sp>
      <p:sp>
        <p:nvSpPr>
          <p:cNvPr id="15" name="Shape 13"/>
          <p:cNvSpPr/>
          <p:nvPr/>
        </p:nvSpPr>
        <p:spPr>
          <a:xfrm>
            <a:off x="6656832" y="1920240"/>
            <a:ext cx="91440" cy="457200"/>
          </a:xfrm>
          <a:prstGeom prst="roundRect">
            <a:avLst>
              <a:gd name="adj" fmla="val 20000"/>
            </a:avLst>
          </a:prstGeom>
          <a:solidFill>
            <a:srgbClr val="3D566E"/>
          </a:solidFill>
          <a:ln/>
        </p:spPr>
      </p:sp>
      <p:sp>
        <p:nvSpPr>
          <p:cNvPr id="16" name="Text 14"/>
          <p:cNvSpPr/>
          <p:nvPr/>
        </p:nvSpPr>
        <p:spPr>
          <a:xfrm>
            <a:off x="6867144" y="18745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FIGARO – CEPAL 2018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656832" y="249631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3D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multirregional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56832" y="2990088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tecnología de producción de cada región: 64 países × 50 sectores, agrupados en 11 regiones.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409176" y="1691640"/>
            <a:ext cx="2697480" cy="3017520"/>
          </a:xfrm>
          <a:prstGeom prst="roundRect">
            <a:avLst>
              <a:gd name="adj" fmla="val 3051"/>
            </a:avLst>
          </a:prstGeom>
          <a:solidFill>
            <a:srgbClr val="F4F6F7"/>
          </a:solidFill>
          <a:ln/>
        </p:spPr>
      </p:sp>
      <p:sp>
        <p:nvSpPr>
          <p:cNvPr id="20" name="Shape 18"/>
          <p:cNvSpPr/>
          <p:nvPr/>
        </p:nvSpPr>
        <p:spPr>
          <a:xfrm>
            <a:off x="9610344" y="1920240"/>
            <a:ext cx="91440" cy="457200"/>
          </a:xfrm>
          <a:prstGeom prst="roundRect">
            <a:avLst>
              <a:gd name="adj" fmla="val 20000"/>
            </a:avLst>
          </a:prstGeom>
          <a:solidFill>
            <a:srgbClr val="2C3E50"/>
          </a:solidFill>
          <a:ln/>
        </p:spPr>
      </p:sp>
      <p:sp>
        <p:nvSpPr>
          <p:cNvPr id="21" name="Text 19"/>
          <p:cNvSpPr/>
          <p:nvPr/>
        </p:nvSpPr>
        <p:spPr>
          <a:xfrm>
            <a:off x="9820656" y="18745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BCP dic-2024 · Eurostat Comext 2024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610344" y="249631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Estadísticas de comercio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610344" y="2990088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destino de las exportaciones — no se toma de la matriz internacional.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937760"/>
            <a:ext cx="5532120" cy="1371600"/>
          </a:xfrm>
          <a:prstGeom prst="roundRect">
            <a:avLst>
              <a:gd name="adj" fmla="val 6000"/>
            </a:avLst>
          </a:prstGeom>
          <a:solidFill>
            <a:srgbClr val="F4F6F7"/>
          </a:solidFill>
          <a:ln/>
        </p:spPr>
      </p:sp>
      <p:sp>
        <p:nvSpPr>
          <p:cNvPr id="25" name="Shape 23"/>
          <p:cNvSpPr/>
          <p:nvPr/>
        </p:nvSpPr>
        <p:spPr>
          <a:xfrm>
            <a:off x="549554" y="5047488"/>
            <a:ext cx="100584" cy="1152144"/>
          </a:xfrm>
          <a:prstGeom prst="roundRect">
            <a:avLst>
              <a:gd name="adj" fmla="val 18182"/>
            </a:avLst>
          </a:prstGeom>
          <a:solidFill>
            <a:srgbClr val="1A6B8A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507492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FIGARO es de 2018 y la MIP de 2024?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68680" y="5394960"/>
            <a:ext cx="4983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matriz internacional representa la tecnología de producción: qué insumos usa cada sector. Eso cambia lentamente, así que un desfase de años es aceptable.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355080" y="4937760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F4F6F7"/>
          </a:solidFill>
          <a:ln/>
        </p:spPr>
      </p:sp>
      <p:sp>
        <p:nvSpPr>
          <p:cNvPr id="29" name="Shape 27"/>
          <p:cNvSpPr/>
          <p:nvPr/>
        </p:nvSpPr>
        <p:spPr>
          <a:xfrm>
            <a:off x="6355994" y="5047488"/>
            <a:ext cx="100584" cy="1152144"/>
          </a:xfrm>
          <a:prstGeom prst="roundRect">
            <a:avLst>
              <a:gd name="adj" fmla="val 18182"/>
            </a:avLst>
          </a:prstGeom>
          <a:solidFill>
            <a:srgbClr val="C98A2C"/>
          </a:solidFill>
          <a:ln/>
        </p:spPr>
      </p:sp>
      <p:sp>
        <p:nvSpPr>
          <p:cNvPr id="30" name="Text 28"/>
          <p:cNvSpPr/>
          <p:nvPr/>
        </p:nvSpPr>
        <p:spPr>
          <a:xfrm>
            <a:off x="6675120" y="5074920"/>
            <a:ext cx="4709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reescalamiento (hoja Parámetros)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675120" y="5394960"/>
            <a:ext cx="4709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factor por región lleva el producto de 2018 al año de la MIP. Sin él, los impactos internacionales quedan subestimados: 22% en el caso europeo, 42% en el estadounidense.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MIP Paraguay  ·  Taller, Sección 1 — La estructura del simulador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 · LA CAPA DE DATOS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Matrices Nacionales: el motor del modelo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035040" cy="2880360"/>
          </a:xfrm>
          <a:prstGeom prst="roundRect">
            <a:avLst>
              <a:gd name="adj" fmla="val 2857"/>
            </a:avLst>
          </a:prstGeom>
          <a:solidFill>
            <a:srgbClr val="F4F6F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bloques principales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21284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1A6B8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128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194560"/>
            <a:ext cx="4937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transacciones, 21 × 21 — lo que cada sector compra a cada sector.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277977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1A6B8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77977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2761488"/>
            <a:ext cx="4937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Coeficientes técnicos:   A = Z / x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334670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1A6B8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3467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3328416"/>
            <a:ext cx="4937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Inversa de Leontief:   L = (I − A)⁻¹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3950208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el bloque de valor agregado — remuneraciones, ingreso mixto, excedente e impuestos — los bloques inducidos que incorporan a los hogares, y la matriz Ghosh, base de los encadenamientos hacia adelante.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0" y="1645920"/>
            <a:ext cx="4754880" cy="2880360"/>
          </a:xfrm>
          <a:prstGeom prst="roundRect">
            <a:avLst>
              <a:gd name="adj" fmla="val 2857"/>
            </a:avLst>
          </a:prstGeom>
          <a:solidFill>
            <a:srgbClr val="2C3E50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0" y="181051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ecuación fundamental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132320" y="224028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212F3B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0" y="224028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 =  (I − A)⁻¹ · f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132320" y="3154680"/>
            <a:ext cx="4206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 es el vector de demanda final que se carga en la hoja de estímulos.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es la producción que el modelo calcula como resultado.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demás — PIB, empleo, ingreso — se deriva de x aplicando coeficientes.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709160"/>
            <a:ext cx="11064240" cy="1600200"/>
          </a:xfrm>
          <a:prstGeom prst="roundRect">
            <a:avLst>
              <a:gd name="adj" fmla="val 5143"/>
            </a:avLst>
          </a:prstGeom>
          <a:solidFill>
            <a:srgbClr val="F4F6F7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82803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una identidad contable en vivo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2960" y="5138928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columna:  consumo intermedio + importaciones + impuestos + valor agregado = producción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fila:  ventas intermedias + demanda final = producción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585216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 cierran de forma exacta. Subsiste una diferencia de 2,6 MUSD por redondeo del archivo de origen.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675120" y="4956048"/>
            <a:ext cx="12344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0840" y="507492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78.041,2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720840" y="5468112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(VBP)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955280" y="4956048"/>
            <a:ext cx="12344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01000" y="507492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41.595,1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001000" y="5468112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agregado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235440" y="4956048"/>
            <a:ext cx="12344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81160" y="507492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28.451,2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9281160" y="5468112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interm.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0515600" y="4956048"/>
            <a:ext cx="12344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561320" y="507492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12.419,2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10561320" y="5468112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Exportaciones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675120" y="60350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de control, MUSD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MIP Paraguay  ·  Taller, Sección 1 — La estructura del simulador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 · LA CAPA DE DATOS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agregación sectorial: de 33 a 21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matriz de origen tiene 33 sectores; el simulador trabaja con 21. La restricción no es la matriz: son los datos de empleo.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532120" cy="2194560"/>
          </a:xfrm>
          <a:prstGeom prst="roundRect">
            <a:avLst>
              <a:gd name="adj" fmla="val 3750"/>
            </a:avLst>
          </a:prstGeom>
          <a:solidFill>
            <a:srgbClr val="F4F6F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94560"/>
            <a:ext cx="4983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criterio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49834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dos actividades con estructuras laborales muy distintas se agrupan, el coeficiente de empleo resultante no representa a ninguna de las dos.</a:t>
            </a:r>
            <a:endParaRPr lang="en-US" sz="1150" dirty="0"/>
          </a:p>
          <a:p>
            <a:pPr indent="0" marL="0">
              <a:lnSpc>
                <a:spcPts val="1450"/>
              </a:lnSpc>
              <a:buNone/>
            </a:pPr>
            <a:endParaRPr lang="en-US" sz="11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agrupación candidata se calculó el coeficiente de variación del coeficiente de empleo entre subsectores.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55080" y="2057400"/>
            <a:ext cx="5257800" cy="2194560"/>
          </a:xfrm>
          <a:prstGeom prst="roundRect">
            <a:avLst>
              <a:gd name="adj" fmla="val 3750"/>
            </a:avLst>
          </a:prstGeom>
          <a:solidFill>
            <a:srgbClr val="2C3E50"/>
          </a:solidFill>
          <a:ln/>
        </p:spPr>
      </p:sp>
      <p:sp>
        <p:nvSpPr>
          <p:cNvPr id="9" name="Text 7"/>
          <p:cNvSpPr/>
          <p:nvPr/>
        </p:nvSpPr>
        <p:spPr>
          <a:xfrm>
            <a:off x="6629400" y="2194560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caso que fijó el número en 21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629400" y="256032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inmobiliarios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966960" y="256032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5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6,5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29400" y="292608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a las empresas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966960" y="292608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5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69,1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29400" y="3310128"/>
            <a:ext cx="4709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ocupados por millón de USD  ·  CV = 82,9%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629400" y="3611880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diferencia de diez a uno. Fusionarlos habría producido un coeficiente sin significado para ninguno de los dos: se mantienen separados, y de ahí salen 21 y no 20.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5532120" cy="1874520"/>
          </a:xfrm>
          <a:prstGeom prst="roundRect">
            <a:avLst>
              <a:gd name="adj" fmla="val 4390"/>
            </a:avLst>
          </a:prstGeom>
          <a:solidFill>
            <a:srgbClr val="F4F6F7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553712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cuatro fusiones (la matriz de 33 no los separa)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" y="4864608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Química + caucho y plástico  ·  Maquinaria + vehículos  ·  Otras manufacturas + reparación  ·  Telecomunicaciones + postales y edición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571500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agregación es aditiva; los coeficientes y la inversa se recalculan después, nunca se promedian.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355080" y="443484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4F6F7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4553712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con heterogeneidad moderada (CV 25–45%)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629400" y="48920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 servicios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241280" y="48920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42,5%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29400" y="515721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Alimentos, bebidas y tabacos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241280" y="515721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38,8%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29400" y="54223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Madera, papel y cartón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241280" y="542239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37,0%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29400" y="56875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Textiles, confecciones y calzado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241280" y="56875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27,8%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629400" y="595274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Agricultura, ganadería, caza y pesca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241280" y="595274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26,6%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MIP Paraguay  ·  Taller, Sección 1 — La estructura del simulador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 · LA CAPA DE DATOS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Empleo: de producción a puestos de trabajo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532120" cy="2331720"/>
          </a:xfrm>
          <a:prstGeom prst="roundRect">
            <a:avLst>
              <a:gd name="adj" fmla="val 3529"/>
            </a:avLst>
          </a:prstGeom>
          <a:solidFill>
            <a:srgbClr val="F4F6F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4983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orígenes distintos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2121408"/>
            <a:ext cx="4983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niveles vienen de la matriz insumo-producto: 3.102.209 ocupados, distribuidos entre los 21 sectores.</a:t>
            </a:r>
            <a:endParaRPr lang="en-US" sz="1150" dirty="0"/>
          </a:p>
          <a:p>
            <a:pPr indent="0" marL="0">
              <a:lnSpc>
                <a:spcPts val="1450"/>
              </a:lnSpc>
              <a:buNone/>
            </a:pPr>
            <a:endParaRPr lang="en-US" sz="11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composición — sexo, calificación, formalidad y área — viene de la EPHC 2024.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3401568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hoja incorpora además los coeficientes de ingreso — sueldos, contribuciones e ingreso mixto por unidad de producción.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55080" y="1645920"/>
            <a:ext cx="5257800" cy="2331720"/>
          </a:xfrm>
          <a:prstGeom prst="roundRect">
            <a:avLst>
              <a:gd name="adj" fmla="val 3529"/>
            </a:avLst>
          </a:prstGeom>
          <a:solidFill>
            <a:srgbClr val="2C3E50"/>
          </a:solidFill>
          <a:ln/>
        </p:spPr>
      </p:sp>
      <p:sp>
        <p:nvSpPr>
          <p:cNvPr id="9" name="Text 7"/>
          <p:cNvSpPr/>
          <p:nvPr/>
        </p:nvSpPr>
        <p:spPr>
          <a:xfrm>
            <a:off x="6629400" y="1783080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dispersión que explica los resultados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629400" y="2084832"/>
            <a:ext cx="4709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Ocupados por millón de USD de producción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629400" y="239572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 servicios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412480" y="2446020"/>
            <a:ext cx="2253727" cy="137160"/>
          </a:xfrm>
          <a:prstGeom prst="rect">
            <a:avLst/>
          </a:prstGeom>
          <a:solidFill>
            <a:srgbClr val="5FA8C9"/>
          </a:solidFill>
          <a:ln/>
        </p:spPr>
      </p:sp>
      <p:sp>
        <p:nvSpPr>
          <p:cNvPr id="13" name="Text 11"/>
          <p:cNvSpPr/>
          <p:nvPr/>
        </p:nvSpPr>
        <p:spPr>
          <a:xfrm>
            <a:off x="10835640" y="2395728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83,8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29400" y="2651760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412480" y="2702052"/>
            <a:ext cx="2213386" cy="137160"/>
          </a:xfrm>
          <a:prstGeom prst="rect">
            <a:avLst/>
          </a:prstGeom>
          <a:solidFill>
            <a:srgbClr val="5FA8C9"/>
          </a:solidFill>
          <a:ln/>
        </p:spPr>
      </p:sp>
      <p:sp>
        <p:nvSpPr>
          <p:cNvPr id="16" name="Text 14"/>
          <p:cNvSpPr/>
          <p:nvPr/>
        </p:nvSpPr>
        <p:spPr>
          <a:xfrm>
            <a:off x="10835640" y="2651760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82,3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29400" y="2907792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412480" y="2958084"/>
            <a:ext cx="1543722" cy="137160"/>
          </a:xfrm>
          <a:prstGeom prst="rect">
            <a:avLst/>
          </a:prstGeom>
          <a:solidFill>
            <a:srgbClr val="5FA8C9"/>
          </a:solidFill>
          <a:ln/>
        </p:spPr>
      </p:sp>
      <p:sp>
        <p:nvSpPr>
          <p:cNvPr id="19" name="Text 17"/>
          <p:cNvSpPr/>
          <p:nvPr/>
        </p:nvSpPr>
        <p:spPr>
          <a:xfrm>
            <a:off x="10835640" y="2907792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57,4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29400" y="3163824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Turismo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412480" y="3214116"/>
            <a:ext cx="1296296" cy="137160"/>
          </a:xfrm>
          <a:prstGeom prst="rect">
            <a:avLst/>
          </a:prstGeom>
          <a:solidFill>
            <a:srgbClr val="5FA8C9"/>
          </a:solidFill>
          <a:ln/>
        </p:spPr>
      </p:sp>
      <p:sp>
        <p:nvSpPr>
          <p:cNvPr id="22" name="Text 20"/>
          <p:cNvSpPr/>
          <p:nvPr/>
        </p:nvSpPr>
        <p:spPr>
          <a:xfrm>
            <a:off x="10835640" y="3163824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48,2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29400" y="3419856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Alimentos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412480" y="3470148"/>
            <a:ext cx="207085" cy="137160"/>
          </a:xfrm>
          <a:prstGeom prst="rect">
            <a:avLst/>
          </a:prstGeom>
          <a:solidFill>
            <a:srgbClr val="3D566E"/>
          </a:solidFill>
          <a:ln/>
        </p:spPr>
      </p:sp>
      <p:sp>
        <p:nvSpPr>
          <p:cNvPr id="25" name="Text 23"/>
          <p:cNvSpPr/>
          <p:nvPr/>
        </p:nvSpPr>
        <p:spPr>
          <a:xfrm>
            <a:off x="10835640" y="3419856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29400" y="367588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Electricidad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412480" y="3726180"/>
            <a:ext cx="204395" cy="137160"/>
          </a:xfrm>
          <a:prstGeom prst="rect">
            <a:avLst/>
          </a:prstGeom>
          <a:solidFill>
            <a:srgbClr val="3D566E"/>
          </a:solidFill>
          <a:ln/>
        </p:spPr>
      </p:sp>
      <p:sp>
        <p:nvSpPr>
          <p:cNvPr id="28" name="Text 26"/>
          <p:cNvSpPr/>
          <p:nvPr/>
        </p:nvSpPr>
        <p:spPr>
          <a:xfrm>
            <a:off x="10835640" y="3675888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7,6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425196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F4F6F7"/>
          </a:solidFill>
          <a:ln/>
        </p:spPr>
      </p:sp>
      <p:sp>
        <p:nvSpPr>
          <p:cNvPr id="30" name="Shape 28"/>
          <p:cNvSpPr/>
          <p:nvPr/>
        </p:nvSpPr>
        <p:spPr>
          <a:xfrm>
            <a:off x="549554" y="4361688"/>
            <a:ext cx="100584" cy="1152144"/>
          </a:xfrm>
          <a:prstGeom prst="roundRect">
            <a:avLst>
              <a:gd name="adj" fmla="val 18182"/>
            </a:avLst>
          </a:prstGeom>
          <a:solidFill>
            <a:srgbClr val="C98A2C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" y="4389120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limitación que hay que conocer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68680" y="4709160"/>
            <a:ext cx="10515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EPHC distingue ocho ramas de actividad frente a 21 sectores: los que comparten rama reciben perfil idéntico. Diez sectores caen en industrias manufactureras; tres en finanzas, seguros e inmuebles. En cambio agricultura, electricidad, construcción y otros servicios tienen correspondencia directa.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Consecuencia práctica: comparar el perfil de empleo entre dos sectores solo aporta información cuando pertenecen a ramas distintas de la encuesta.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MIP Paraguay  ·  Taller, Sección 1 — La estructura del simulador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 · LA CAPA DE ENTRADAS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Estímulos Nacionales: dónde cambia la demanda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Acá se define cuánto cambia la demanda final de cada sector. Es la  f  de la ecuación fundamental — todo lo demás se deriva de ahí.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6720840" cy="2743200"/>
          </a:xfrm>
          <a:prstGeom prst="roundRect">
            <a:avLst>
              <a:gd name="adj" fmla="val 3000"/>
            </a:avLst>
          </a:prstGeom>
          <a:solidFill>
            <a:srgbClr val="F4F6F7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22199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0" y="222199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 sector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(MUSD)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480560" y="222199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MUSD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(editable)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760720" y="2221992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Guaraníes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(auto)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720840" y="222199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PIB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5800" y="2706624"/>
            <a:ext cx="6446520" cy="0"/>
          </a:xfrm>
          <a:prstGeom prst="line">
            <a:avLst/>
          </a:prstGeom>
          <a:noFill/>
          <a:ln w="12700">
            <a:solidFill>
              <a:srgbClr val="C7D0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81635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Agricultura, ganadería, caza y pesca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0" y="2816352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5.086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80560" y="2816352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▢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760720" y="2816352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720840" y="2816352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327355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Textiles, confecciones y calzado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0" y="3273552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480560" y="3273552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▢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760720" y="3273552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20840" y="3273552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" y="373075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Comercio al por mayor y menor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0" y="3730752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5.231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480560" y="3730752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▢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60720" y="3730752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20840" y="3730752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5800" y="418795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 servicios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00400" y="4187952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6.339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480560" y="4187952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▢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760720" y="4187952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20840" y="4187952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5800" y="4526280"/>
            <a:ext cx="6446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sectores  ·  el bloque se replica a la derecha para el Escenario Alternativo (modo comparado)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543800" y="2103120"/>
            <a:ext cx="4069080" cy="2743200"/>
          </a:xfrm>
          <a:prstGeom prst="roundRect">
            <a:avLst>
              <a:gd name="adj" fmla="val 3000"/>
            </a:avLst>
          </a:prstGeom>
          <a:solidFill>
            <a:srgbClr val="2C3E50"/>
          </a:solidFill>
          <a:ln/>
        </p:spPr>
      </p:sp>
      <p:sp>
        <p:nvSpPr>
          <p:cNvPr id="34" name="Text 32"/>
          <p:cNvSpPr/>
          <p:nvPr/>
        </p:nvSpPr>
        <p:spPr>
          <a:xfrm>
            <a:off x="7818120" y="224028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reconocer lo editable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818120" y="25603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celdas celestes son las únicas editables. El borde verde señala la celda activa. Todo lo demás es motor del modelo.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818120" y="3364992"/>
            <a:ext cx="3520440" cy="0"/>
          </a:xfrm>
          <a:prstGeom prst="line">
            <a:avLst/>
          </a:prstGeom>
          <a:noFill/>
          <a:ln w="12700">
            <a:solidFill>
              <a:srgbClr val="3D56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18120" y="347472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qué sirve la columna de %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818120" y="37947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estímulo de 100 millones es marginal en comercio y desproporcionado en minería. La columna lo hace visible antes de correr la simulación.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8640" y="5120640"/>
            <a:ext cx="11064240" cy="1188720"/>
          </a:xfrm>
          <a:prstGeom prst="roundRect">
            <a:avLst>
              <a:gd name="adj" fmla="val 6923"/>
            </a:avLst>
          </a:prstGeom>
          <a:solidFill>
            <a:srgbClr val="F4F6F7"/>
          </a:solidFill>
          <a:ln/>
        </p:spPr>
      </p:sp>
      <p:sp>
        <p:nvSpPr>
          <p:cNvPr id="40" name="Shape 38"/>
          <p:cNvSpPr/>
          <p:nvPr/>
        </p:nvSpPr>
        <p:spPr>
          <a:xfrm>
            <a:off x="549554" y="5230368"/>
            <a:ext cx="100584" cy="969264"/>
          </a:xfrm>
          <a:prstGeom prst="roundRect">
            <a:avLst>
              <a:gd name="adj" fmla="val 18182"/>
            </a:avLst>
          </a:prstGeom>
          <a:solidFill>
            <a:srgbClr val="AD4A3B"/>
          </a:solidFill>
          <a:ln/>
        </p:spPr>
      </p:sp>
      <p:sp>
        <p:nvSpPr>
          <p:cNvPr id="41" name="Text 39"/>
          <p:cNvSpPr/>
          <p:nvPr/>
        </p:nvSpPr>
        <p:spPr>
          <a:xfrm>
            <a:off x="868680" y="5257800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error más frecuente de esta hoja: confundir demanda final con producción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868680" y="5577840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estímulo es un aumento de demanda final — consumo, inversión o exportación. La producción es lo que el modelo calcula como resultado, no lo que se carga.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MIP Paraguay  ·  Taller, Sección 1 — La estructura del simulador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 · LA CAPA DE ENTRADAS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Estímulos Internacionales: la demanda que cambia está afuera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Paraguay no aparece como columna: el panel mide cómo la demanda del resto del mundo afecta a la economía paraguaya.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440680" cy="3063240"/>
          </a:xfrm>
          <a:prstGeom prst="roundRect">
            <a:avLst>
              <a:gd name="adj" fmla="val 2687"/>
            </a:avLst>
          </a:prstGeom>
          <a:solidFill>
            <a:srgbClr val="F4F6F7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286000"/>
            <a:ext cx="1143000" cy="320040"/>
          </a:xfrm>
          <a:prstGeom prst="roundRect">
            <a:avLst>
              <a:gd name="adj" fmla="val 20000"/>
            </a:avLst>
          </a:prstGeom>
          <a:solidFill>
            <a:srgbClr val="3D566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28600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057400" y="228600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 uniforme por región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272491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shock por región, igual para todos sus sectores. El panel tiene dos filas: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3154680"/>
            <a:ext cx="498348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1546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7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91640" y="31546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flechas ▲▼. Índice interno donde 100 es sin cambio.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" y="3776472"/>
            <a:ext cx="498348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9050">
            <a:solidFill>
              <a:srgbClr val="1A6B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776472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8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91640" y="377647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escribir. Formato porcentaje: se escribe 10 o −10.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4434840"/>
            <a:ext cx="4983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habitual es escribir directamente en la fila 8. Las flechas sirven para tantear valores sin teclear.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63640" y="2103120"/>
            <a:ext cx="5349240" cy="3063240"/>
          </a:xfrm>
          <a:prstGeom prst="roundRect">
            <a:avLst>
              <a:gd name="adj" fmla="val 2687"/>
            </a:avLst>
          </a:prstGeom>
          <a:solidFill>
            <a:srgbClr val="2C3E50"/>
          </a:solidFill>
          <a:ln/>
        </p:spPr>
      </p:sp>
      <p:sp>
        <p:nvSpPr>
          <p:cNvPr id="18" name="Shape 16"/>
          <p:cNvSpPr/>
          <p:nvPr/>
        </p:nvSpPr>
        <p:spPr>
          <a:xfrm>
            <a:off x="6492240" y="2286000"/>
            <a:ext cx="1143000" cy="320040"/>
          </a:xfrm>
          <a:prstGeom prst="roundRect">
            <a:avLst>
              <a:gd name="adj" fmla="val 20000"/>
            </a:avLst>
          </a:prstGeom>
          <a:solidFill>
            <a:srgbClr val="1A6B8A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228600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B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772400" y="228600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 diferenciado por sector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92240" y="2724912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matriz de 21 sectores × 10 regiones. Cada celda hereda el shock de su región y solo se sobrescriben las que se quieran diferenciar.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92240" y="3520440"/>
            <a:ext cx="4846320" cy="0"/>
          </a:xfrm>
          <a:prstGeom prst="line">
            <a:avLst/>
          </a:prstGeom>
          <a:noFill/>
          <a:ln w="12700">
            <a:solidFill>
              <a:srgbClr val="3D56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3621024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usar cada uno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92240" y="3931920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A para un choque general: una recesión en Brasil, una expansión de la demanda china.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B para un acuerdo comercial, que afecta más a unos sectores que a otros — es el modo indicado para el UE–Mercosur.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53949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abajo, un vector de 231 filas (11 regiones × 21 sectores) traduce el panel en la variación de demanda que recibe el modelo. La fila ΔF TOTAL muestra el cambio por región. No se edita a mano.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MIP Paraguay  ·  Taller, Sección 1 — La estructura del simulador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 · LA CAPA DE ENTRADAS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diferencia de unidades entre las dos hojas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fuente de error más frecuente del simulador: cada hoja de entrada usa una escala distinta.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349240" cy="2606040"/>
          </a:xfrm>
          <a:prstGeom prst="roundRect">
            <a:avLst>
              <a:gd name="adj" fmla="val 3158"/>
            </a:avLst>
          </a:prstGeom>
          <a:solidFill>
            <a:srgbClr val="2C3E5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42316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Estímulos Nacionales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2907792"/>
            <a:ext cx="4709160" cy="868680"/>
          </a:xfrm>
          <a:prstGeom prst="roundRect">
            <a:avLst>
              <a:gd name="adj" fmla="val 8421"/>
            </a:avLst>
          </a:prstGeom>
          <a:solidFill>
            <a:srgbClr val="1A6B8A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99923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MONTOS ABSOLUTOS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364992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millones de dólares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393192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escribe 50 para un estímulo de USD 50 millones.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2194560"/>
            <a:ext cx="5349240" cy="2606040"/>
          </a:xfrm>
          <a:prstGeom prst="roundRect">
            <a:avLst>
              <a:gd name="adj" fmla="val 3158"/>
            </a:avLst>
          </a:prstGeom>
          <a:solidFill>
            <a:srgbClr val="2C3E50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42316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Estímulos Internacionales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583680" y="2907792"/>
            <a:ext cx="4709160" cy="868680"/>
          </a:xfrm>
          <a:prstGeom prst="roundRect">
            <a:avLst>
              <a:gd name="adj" fmla="val 8421"/>
            </a:avLst>
          </a:prstGeom>
          <a:solidFill>
            <a:srgbClr val="2980B9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299923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VARIACIÓN PORCENTUAL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83680" y="3364992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porcentaje de cambio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0" y="393192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escribe 10 para un aumento del 10%, −10 para una caída.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0" y="3200400"/>
            <a:ext cx="868680" cy="594360"/>
          </a:xfrm>
          <a:prstGeom prst="roundRect">
            <a:avLst>
              <a:gd name="adj" fmla="val 49231"/>
            </a:avLst>
          </a:prstGeom>
          <a:solidFill>
            <a:srgbClr val="212F3B"/>
          </a:solidFill>
          <a:ln w="19050">
            <a:solidFill>
              <a:srgbClr val="3D5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3200400"/>
            <a:ext cx="868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2C3E50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5184648"/>
            <a:ext cx="100584" cy="832104"/>
          </a:xfrm>
          <a:prstGeom prst="roundRect">
            <a:avLst>
              <a:gd name="adj" fmla="val 18182"/>
            </a:avLst>
          </a:prstGeom>
          <a:solidFill>
            <a:srgbClr val="C98A2C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23036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“10” cargado en la hoja nacional son 10 millones de dólares. El mismo “10” en la hoja internacional es un aumento del 10% de la demanda de esa región: dos órdenes de magnitud completamente distintos.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MIP Paraguay  ·  Taller, Sección 1 — La estructura del simulador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4 · LA CAPA DE RESULTADOS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estructura de columnas, cuatro hojas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783080" cy="1371600"/>
          </a:xfrm>
          <a:prstGeom prst="roundRect">
            <a:avLst>
              <a:gd name="adj" fmla="val 6000"/>
            </a:avLst>
          </a:prstGeom>
          <a:solidFill>
            <a:srgbClr val="F4F6F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1783080" cy="82296"/>
          </a:xfrm>
          <a:prstGeom prst="rect">
            <a:avLst/>
          </a:prstGeom>
          <a:solidFill>
            <a:srgbClr val="717D7E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874520"/>
            <a:ext cx="1636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</a:t>
            </a:r>
            <a:endParaRPr lang="en-US" sz="105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21792" y="2468880"/>
            <a:ext cx="16367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estímulo cargado, sin propagar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14016" y="1691640"/>
            <a:ext cx="1783080" cy="1371600"/>
          </a:xfrm>
          <a:prstGeom prst="roundRect">
            <a:avLst>
              <a:gd name="adj" fmla="val 6000"/>
            </a:avLst>
          </a:prstGeom>
          <a:solidFill>
            <a:srgbClr val="F4F6F7"/>
          </a:solidFill>
          <a:ln/>
        </p:spPr>
      </p:sp>
      <p:sp>
        <p:nvSpPr>
          <p:cNvPr id="9" name="Shape 7"/>
          <p:cNvSpPr/>
          <p:nvPr/>
        </p:nvSpPr>
        <p:spPr>
          <a:xfrm>
            <a:off x="2414016" y="1691640"/>
            <a:ext cx="1783080" cy="82296"/>
          </a:xfrm>
          <a:prstGeom prst="rect">
            <a:avLst/>
          </a:prstGeom>
          <a:solidFill>
            <a:srgbClr val="3D566E"/>
          </a:solidFill>
          <a:ln/>
        </p:spPr>
      </p:sp>
      <p:sp>
        <p:nvSpPr>
          <p:cNvPr id="10" name="Text 8"/>
          <p:cNvSpPr/>
          <p:nvPr/>
        </p:nvSpPr>
        <p:spPr>
          <a:xfrm>
            <a:off x="2487168" y="1874520"/>
            <a:ext cx="1636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 directo</a:t>
            </a:r>
            <a:endParaRPr lang="en-US" sz="105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Nac. · Intl.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487168" y="2468880"/>
            <a:ext cx="16367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sector estimulado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79392" y="1691640"/>
            <a:ext cx="1783080" cy="1371600"/>
          </a:xfrm>
          <a:prstGeom prst="roundRect">
            <a:avLst>
              <a:gd name="adj" fmla="val 6000"/>
            </a:avLst>
          </a:prstGeom>
          <a:solidFill>
            <a:srgbClr val="F4F6F7"/>
          </a:solidFill>
          <a:ln/>
        </p:spPr>
      </p:sp>
      <p:sp>
        <p:nvSpPr>
          <p:cNvPr id="13" name="Shape 11"/>
          <p:cNvSpPr/>
          <p:nvPr/>
        </p:nvSpPr>
        <p:spPr>
          <a:xfrm>
            <a:off x="4279392" y="1691640"/>
            <a:ext cx="1783080" cy="82296"/>
          </a:xfrm>
          <a:prstGeom prst="rect">
            <a:avLst/>
          </a:prstGeom>
          <a:solidFill>
            <a:srgbClr val="3D566E"/>
          </a:solidFill>
          <a:ln/>
        </p:spPr>
      </p:sp>
      <p:sp>
        <p:nvSpPr>
          <p:cNvPr id="14" name="Text 12"/>
          <p:cNvSpPr/>
          <p:nvPr/>
        </p:nvSpPr>
        <p:spPr>
          <a:xfrm>
            <a:off x="4352544" y="1874520"/>
            <a:ext cx="1636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 indirecto</a:t>
            </a:r>
            <a:endParaRPr lang="en-US" sz="105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Nac. · Intl.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352544" y="2468880"/>
            <a:ext cx="16367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cadena de proveedores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44768" y="1691640"/>
            <a:ext cx="1783080" cy="1371600"/>
          </a:xfrm>
          <a:prstGeom prst="roundRect">
            <a:avLst>
              <a:gd name="adj" fmla="val 6000"/>
            </a:avLst>
          </a:prstGeom>
          <a:solidFill>
            <a:srgbClr val="F4F6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144768" y="1691640"/>
            <a:ext cx="1783080" cy="82296"/>
          </a:xfrm>
          <a:prstGeom prst="rect">
            <a:avLst/>
          </a:prstGeom>
          <a:solidFill>
            <a:srgbClr val="C98A2C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1874520"/>
            <a:ext cx="1636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</a:t>
            </a:r>
            <a:endParaRPr lang="en-US" sz="105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inducido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17920" y="2468880"/>
            <a:ext cx="16367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gasto de los hogares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010144" y="1691640"/>
            <a:ext cx="1783080" cy="1371600"/>
          </a:xfrm>
          <a:prstGeom prst="roundRect">
            <a:avLst>
              <a:gd name="adj" fmla="val 6000"/>
            </a:avLst>
          </a:prstGeom>
          <a:solidFill>
            <a:srgbClr val="F4F6F7"/>
          </a:solidFill>
          <a:ln/>
        </p:spPr>
      </p:sp>
      <p:sp>
        <p:nvSpPr>
          <p:cNvPr id="21" name="Shape 19"/>
          <p:cNvSpPr/>
          <p:nvPr/>
        </p:nvSpPr>
        <p:spPr>
          <a:xfrm>
            <a:off x="8010144" y="1691640"/>
            <a:ext cx="1783080" cy="82296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22" name="Text 20"/>
          <p:cNvSpPr/>
          <p:nvPr/>
        </p:nvSpPr>
        <p:spPr>
          <a:xfrm>
            <a:off x="8083296" y="1874520"/>
            <a:ext cx="1636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</a:t>
            </a:r>
            <a:endParaRPr lang="en-US" sz="105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083296" y="2468880"/>
            <a:ext cx="16367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suma de los anteriores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875520" y="1691640"/>
            <a:ext cx="1783080" cy="1371600"/>
          </a:xfrm>
          <a:prstGeom prst="roundRect">
            <a:avLst>
              <a:gd name="adj" fmla="val 6000"/>
            </a:avLst>
          </a:prstGeom>
          <a:solidFill>
            <a:srgbClr val="F4F6F7"/>
          </a:solidFill>
          <a:ln/>
        </p:spPr>
      </p:sp>
      <p:sp>
        <p:nvSpPr>
          <p:cNvPr id="25" name="Shape 23"/>
          <p:cNvSpPr/>
          <p:nvPr/>
        </p:nvSpPr>
        <p:spPr>
          <a:xfrm>
            <a:off x="9875520" y="1691640"/>
            <a:ext cx="1783080" cy="82296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26" name="Text 24"/>
          <p:cNvSpPr/>
          <p:nvPr/>
        </p:nvSpPr>
        <p:spPr>
          <a:xfrm>
            <a:off x="9948672" y="1874520"/>
            <a:ext cx="1636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</a:t>
            </a:r>
            <a:endParaRPr lang="en-US" sz="105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sectorial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948672" y="2468880"/>
            <a:ext cx="16367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Respecto de la línea base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" y="32004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las cuatro hojas compartan estructura permite comparar celda a celda: para el mismo sector y el mismo efecto — cuánta producción, cuánto valor agregado, cuántos empleos y cuánto ingreso.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3840480"/>
            <a:ext cx="2606040" cy="1874520"/>
          </a:xfrm>
          <a:prstGeom prst="roundRect">
            <a:avLst>
              <a:gd name="adj" fmla="val 4390"/>
            </a:avLst>
          </a:prstGeom>
          <a:solidFill>
            <a:srgbClr val="F4F6F7"/>
          </a:solidFill>
          <a:ln/>
        </p:spPr>
      </p:sp>
      <p:sp>
        <p:nvSpPr>
          <p:cNvPr id="30" name="Shape 28"/>
          <p:cNvSpPr/>
          <p:nvPr/>
        </p:nvSpPr>
        <p:spPr>
          <a:xfrm>
            <a:off x="548640" y="3840480"/>
            <a:ext cx="2606040" cy="502920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38404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85800" y="446227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MUSD de valor bruto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5800" y="4773168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hoja base: las otras tres derivan de ella.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172968" y="4023360"/>
            <a:ext cx="173736" cy="164592"/>
          </a:xfrm>
          <a:prstGeom prst="rightArrow">
            <a:avLst/>
          </a:prstGeom>
          <a:solidFill>
            <a:srgbClr val="D5D8DC"/>
          </a:solidFill>
          <a:ln/>
        </p:spPr>
      </p:sp>
      <p:sp>
        <p:nvSpPr>
          <p:cNvPr id="35" name="Shape 33"/>
          <p:cNvSpPr/>
          <p:nvPr/>
        </p:nvSpPr>
        <p:spPr>
          <a:xfrm>
            <a:off x="3364992" y="3840480"/>
            <a:ext cx="2606040" cy="1874520"/>
          </a:xfrm>
          <a:prstGeom prst="roundRect">
            <a:avLst>
              <a:gd name="adj" fmla="val 4390"/>
            </a:avLst>
          </a:prstGeom>
          <a:solidFill>
            <a:srgbClr val="F4F6F7"/>
          </a:solidFill>
          <a:ln/>
        </p:spPr>
      </p:sp>
      <p:sp>
        <p:nvSpPr>
          <p:cNvPr id="36" name="Shape 34"/>
          <p:cNvSpPr/>
          <p:nvPr/>
        </p:nvSpPr>
        <p:spPr>
          <a:xfrm>
            <a:off x="3364992" y="3840480"/>
            <a:ext cx="2606040" cy="50292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7" name="Text 35"/>
          <p:cNvSpPr/>
          <p:nvPr/>
        </p:nvSpPr>
        <p:spPr>
          <a:xfrm>
            <a:off x="3502152" y="38404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3502152" y="446227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MUSD de valor agregado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502152" y="4773168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Sumar producción duplica contabilidad; el VA no.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989320" y="4023360"/>
            <a:ext cx="173736" cy="164592"/>
          </a:xfrm>
          <a:prstGeom prst="rightArrow">
            <a:avLst/>
          </a:prstGeom>
          <a:solidFill>
            <a:srgbClr val="D5D8DC"/>
          </a:solidFill>
          <a:ln/>
        </p:spPr>
      </p:sp>
      <p:sp>
        <p:nvSpPr>
          <p:cNvPr id="41" name="Shape 39"/>
          <p:cNvSpPr/>
          <p:nvPr/>
        </p:nvSpPr>
        <p:spPr>
          <a:xfrm>
            <a:off x="6181344" y="3840480"/>
            <a:ext cx="2606040" cy="1874520"/>
          </a:xfrm>
          <a:prstGeom prst="roundRect">
            <a:avLst>
              <a:gd name="adj" fmla="val 4390"/>
            </a:avLst>
          </a:prstGeom>
          <a:solidFill>
            <a:srgbClr val="F4F6F7"/>
          </a:solidFill>
          <a:ln/>
        </p:spPr>
      </p:sp>
      <p:sp>
        <p:nvSpPr>
          <p:cNvPr id="42" name="Shape 40"/>
          <p:cNvSpPr/>
          <p:nvPr/>
        </p:nvSpPr>
        <p:spPr>
          <a:xfrm>
            <a:off x="6181344" y="3840480"/>
            <a:ext cx="2606040" cy="502920"/>
          </a:xfrm>
          <a:prstGeom prst="rect">
            <a:avLst/>
          </a:prstGeom>
          <a:solidFill>
            <a:srgbClr val="3D566E"/>
          </a:solidFill>
          <a:ln/>
        </p:spPr>
      </p:sp>
      <p:sp>
        <p:nvSpPr>
          <p:cNvPr id="43" name="Text 41"/>
          <p:cNvSpPr/>
          <p:nvPr/>
        </p:nvSpPr>
        <p:spPr>
          <a:xfrm>
            <a:off x="6318504" y="38404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Empleo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6318504" y="446227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D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ocupadas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318504" y="4773168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× coeficiente de empleo del sector.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805672" y="4023360"/>
            <a:ext cx="173736" cy="164592"/>
          </a:xfrm>
          <a:prstGeom prst="rightArrow">
            <a:avLst/>
          </a:prstGeom>
          <a:solidFill>
            <a:srgbClr val="D5D8DC"/>
          </a:solidFill>
          <a:ln/>
        </p:spPr>
      </p:sp>
      <p:sp>
        <p:nvSpPr>
          <p:cNvPr id="47" name="Shape 45"/>
          <p:cNvSpPr/>
          <p:nvPr/>
        </p:nvSpPr>
        <p:spPr>
          <a:xfrm>
            <a:off x="8997696" y="3840480"/>
            <a:ext cx="2606040" cy="1874520"/>
          </a:xfrm>
          <a:prstGeom prst="roundRect">
            <a:avLst>
              <a:gd name="adj" fmla="val 4390"/>
            </a:avLst>
          </a:prstGeom>
          <a:solidFill>
            <a:srgbClr val="F4F6F7"/>
          </a:solidFill>
          <a:ln/>
        </p:spPr>
      </p:sp>
      <p:sp>
        <p:nvSpPr>
          <p:cNvPr id="48" name="Shape 46"/>
          <p:cNvSpPr/>
          <p:nvPr/>
        </p:nvSpPr>
        <p:spPr>
          <a:xfrm>
            <a:off x="8997696" y="3840480"/>
            <a:ext cx="2606040" cy="50292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49" name="Text 47"/>
          <p:cNvSpPr/>
          <p:nvPr/>
        </p:nvSpPr>
        <p:spPr>
          <a:xfrm>
            <a:off x="9134856" y="38404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Laboral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9134856" y="446227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MUSD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9134856" y="4773168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puestos generados, ¿con qué remuneración?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48640" y="58521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Advertencia sobre el efecto inducido: supone que los hogares gastan con la misma estructura de consumo que hoy. Es el más discutible de los tres y conviene reportarlo por separado. Además usa una función de Excel 365 — en versiones anteriores devuelve #NAME?.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MIP Paraguay  ·  Taller, Sección 1 — La estructura del simulador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4 · LA CAPA DE RESULTADOS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Ejecutivo: la hoja para mostrar, no para analizar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en un solo panel todos los resultados de una simulación. Para el análisis sectorial fino están las hojas de detalle: los agregados esconden justamente lo interesante.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97480" cy="2606040"/>
          </a:xfrm>
          <a:prstGeom prst="roundRect">
            <a:avLst>
              <a:gd name="adj" fmla="val 3158"/>
            </a:avLst>
          </a:prstGeom>
          <a:solidFill>
            <a:srgbClr val="F4F6F7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2350008"/>
            <a:ext cx="438912" cy="438912"/>
          </a:xfrm>
          <a:prstGeom prst="ellipse">
            <a:avLst/>
          </a:prstGeom>
          <a:solidFill>
            <a:srgbClr val="1A6B8A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3500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" y="2898648"/>
            <a:ext cx="22951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Tarjetas de indicadores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" y="3502152"/>
            <a:ext cx="22951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activada, valor agregado, empleo generado e ingreso laboral. Sirven para verificar rápido que el escenario se cargó bien.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02152" y="2148840"/>
            <a:ext cx="2697480" cy="2606040"/>
          </a:xfrm>
          <a:prstGeom prst="roundRect">
            <a:avLst>
              <a:gd name="adj" fmla="val 3158"/>
            </a:avLst>
          </a:prstGeom>
          <a:solidFill>
            <a:srgbClr val="F4F6F7"/>
          </a:solidFill>
          <a:ln/>
        </p:spPr>
      </p:sp>
      <p:sp>
        <p:nvSpPr>
          <p:cNvPr id="11" name="Shape 9"/>
          <p:cNvSpPr/>
          <p:nvPr/>
        </p:nvSpPr>
        <p:spPr>
          <a:xfrm>
            <a:off x="3703320" y="2350008"/>
            <a:ext cx="438912" cy="438912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12" name="Text 10"/>
          <p:cNvSpPr/>
          <p:nvPr/>
        </p:nvSpPr>
        <p:spPr>
          <a:xfrm>
            <a:off x="3703320" y="23500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03320" y="2898648"/>
            <a:ext cx="22951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Descomposición por canal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703320" y="3502152"/>
            <a:ext cx="22951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 · directo · indirecto · inducido · total, cada uno abierto en nacional e internacional. Más Δ/PIB y retención local.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55664" y="2148840"/>
            <a:ext cx="2697480" cy="2606040"/>
          </a:xfrm>
          <a:prstGeom prst="roundRect">
            <a:avLst>
              <a:gd name="adj" fmla="val 3158"/>
            </a:avLst>
          </a:prstGeom>
          <a:solidFill>
            <a:srgbClr val="F4F6F7"/>
          </a:solidFill>
          <a:ln/>
        </p:spPr>
      </p:sp>
      <p:sp>
        <p:nvSpPr>
          <p:cNvPr id="16" name="Shape 14"/>
          <p:cNvSpPr/>
          <p:nvPr/>
        </p:nvSpPr>
        <p:spPr>
          <a:xfrm>
            <a:off x="6656832" y="2350008"/>
            <a:ext cx="438912" cy="438912"/>
          </a:xfrm>
          <a:prstGeom prst="ellipse">
            <a:avLst/>
          </a:prstGeom>
          <a:solidFill>
            <a:srgbClr val="3D566E"/>
          </a:solidFill>
          <a:ln/>
        </p:spPr>
      </p:sp>
      <p:sp>
        <p:nvSpPr>
          <p:cNvPr id="17" name="Text 15"/>
          <p:cNvSpPr/>
          <p:nvPr/>
        </p:nvSpPr>
        <p:spPr>
          <a:xfrm>
            <a:off x="6656832" y="23500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56832" y="2898648"/>
            <a:ext cx="22951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del empleo generado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656832" y="3502152"/>
            <a:ext cx="22951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empleo del escenario abierto por sexo, calificación, formalidad y área.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409176" y="2148840"/>
            <a:ext cx="2697480" cy="2606040"/>
          </a:xfrm>
          <a:prstGeom prst="roundRect">
            <a:avLst>
              <a:gd name="adj" fmla="val 3158"/>
            </a:avLst>
          </a:prstGeom>
          <a:solidFill>
            <a:srgbClr val="F4F6F7"/>
          </a:solidFill>
          <a:ln/>
        </p:spPr>
      </p:sp>
      <p:sp>
        <p:nvSpPr>
          <p:cNvPr id="21" name="Shape 19"/>
          <p:cNvSpPr/>
          <p:nvPr/>
        </p:nvSpPr>
        <p:spPr>
          <a:xfrm>
            <a:off x="9610344" y="2350008"/>
            <a:ext cx="438912" cy="438912"/>
          </a:xfrm>
          <a:prstGeom prst="ellipse">
            <a:avLst/>
          </a:prstGeom>
          <a:solidFill>
            <a:srgbClr val="2C3E50"/>
          </a:solidFill>
          <a:ln/>
        </p:spPr>
      </p:sp>
      <p:sp>
        <p:nvSpPr>
          <p:cNvPr id="22" name="Text 20"/>
          <p:cNvSpPr/>
          <p:nvPr/>
        </p:nvSpPr>
        <p:spPr>
          <a:xfrm>
            <a:off x="9610344" y="23500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10344" y="2898648"/>
            <a:ext cx="22951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Rankings sectoriales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610344" y="3502152"/>
            <a:ext cx="22951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y Peores 5 en producción y en empleo, con su descomposición y los empleos por millón.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5029200"/>
            <a:ext cx="11064240" cy="1280160"/>
          </a:xfrm>
          <a:prstGeom prst="roundRect">
            <a:avLst>
              <a:gd name="adj" fmla="val 6429"/>
            </a:avLst>
          </a:prstGeom>
          <a:solidFill>
            <a:srgbClr val="F4F6F7"/>
          </a:solidFill>
          <a:ln/>
        </p:spPr>
      </p:sp>
      <p:sp>
        <p:nvSpPr>
          <p:cNvPr id="26" name="Shape 24"/>
          <p:cNvSpPr/>
          <p:nvPr/>
        </p:nvSpPr>
        <p:spPr>
          <a:xfrm>
            <a:off x="549554" y="5138928"/>
            <a:ext cx="100584" cy="1060704"/>
          </a:xfrm>
          <a:prstGeom prst="roundRect">
            <a:avLst>
              <a:gd name="adj" fmla="val 18182"/>
            </a:avLst>
          </a:prstGeom>
          <a:solidFill>
            <a:srgbClr val="1A6B8A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5166360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retención local es la columna que más se pasa por alto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68680" y="548640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estímulo grande en un sector con alto contenido importado deja menos en el país de lo que sugiere la cifra bruta. El promedio de la economía paraguaya es 53,3% — pero va de 88% en servicios inmobiliarios a 32% en minería.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MIP Paraguay  ·  Taller, Sección 1 — La estructura del simulador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4 · LA CAPA DE RESULTADOS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solo cuántos empleos: de qué tipo y con qué ingreso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4480560"/>
          </a:xfrm>
          <a:prstGeom prst="roundRect">
            <a:avLst>
              <a:gd name="adj" fmla="val 1837"/>
            </a:avLst>
          </a:prstGeom>
          <a:solidFill>
            <a:srgbClr val="F4F6F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cuatro dimensiones del empleo generado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240280"/>
            <a:ext cx="48006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2386584"/>
            <a:ext cx="82296" cy="365760"/>
          </a:xfrm>
          <a:prstGeom prst="roundRect">
            <a:avLst>
              <a:gd name="adj" fmla="val 22222"/>
            </a:avLst>
          </a:prstGeom>
          <a:solidFill>
            <a:srgbClr val="1A6B8A"/>
          </a:solidFill>
          <a:ln/>
        </p:spPr>
      </p:sp>
      <p:sp>
        <p:nvSpPr>
          <p:cNvPr id="8" name="Text 6"/>
          <p:cNvSpPr/>
          <p:nvPr/>
        </p:nvSpPr>
        <p:spPr>
          <a:xfrm>
            <a:off x="1207008" y="2240280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88920" y="224028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Mujeres · Hombres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2990088"/>
            <a:ext cx="48006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3136392"/>
            <a:ext cx="82296" cy="365760"/>
          </a:xfrm>
          <a:prstGeom prst="roundRect">
            <a:avLst>
              <a:gd name="adj" fmla="val 22222"/>
            </a:avLst>
          </a:prstGeom>
          <a:solidFill>
            <a:srgbClr val="2980B9"/>
          </a:solidFill>
          <a:ln/>
        </p:spPr>
      </p:sp>
      <p:sp>
        <p:nvSpPr>
          <p:cNvPr id="12" name="Text 10"/>
          <p:cNvSpPr/>
          <p:nvPr/>
        </p:nvSpPr>
        <p:spPr>
          <a:xfrm>
            <a:off x="1207008" y="2990088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Calificación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88920" y="2990088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· Media · Baja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3739896"/>
            <a:ext cx="48006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3886200"/>
            <a:ext cx="82296" cy="365760"/>
          </a:xfrm>
          <a:prstGeom prst="roundRect">
            <a:avLst>
              <a:gd name="adj" fmla="val 22222"/>
            </a:avLst>
          </a:prstGeom>
          <a:solidFill>
            <a:srgbClr val="3D566E"/>
          </a:solidFill>
          <a:ln/>
        </p:spPr>
      </p:sp>
      <p:sp>
        <p:nvSpPr>
          <p:cNvPr id="16" name="Text 14"/>
          <p:cNvSpPr/>
          <p:nvPr/>
        </p:nvSpPr>
        <p:spPr>
          <a:xfrm>
            <a:off x="1207008" y="3739896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Formalidad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88920" y="3739896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· Informal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4489704"/>
            <a:ext cx="48006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0120" y="4636008"/>
            <a:ext cx="82296" cy="365760"/>
          </a:xfrm>
          <a:prstGeom prst="roundRect">
            <a:avLst>
              <a:gd name="adj" fmla="val 22222"/>
            </a:avLst>
          </a:prstGeom>
          <a:solidFill>
            <a:srgbClr val="2C3E50"/>
          </a:solidFill>
          <a:ln/>
        </p:spPr>
      </p:sp>
      <p:sp>
        <p:nvSpPr>
          <p:cNvPr id="20" name="Text 18"/>
          <p:cNvSpPr/>
          <p:nvPr/>
        </p:nvSpPr>
        <p:spPr>
          <a:xfrm>
            <a:off x="1207008" y="4489704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88920" y="4489704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Urbano · Rural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534924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categoría se reporta en trabajadores y en %. Los bloques se calculan sobre el efecto total, que mezcla el canal nacional, el internacional y el inducido.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72200" y="1645920"/>
            <a:ext cx="5440680" cy="4572000"/>
          </a:xfrm>
          <a:prstGeom prst="roundRect">
            <a:avLst>
              <a:gd name="adj" fmla="val 1800"/>
            </a:avLst>
          </a:prstGeom>
          <a:solidFill>
            <a:srgbClr val="2C3E50"/>
          </a:solidFill>
          <a:ln/>
        </p:spPr>
      </p:sp>
      <p:sp>
        <p:nvSpPr>
          <p:cNvPr id="24" name="Text 22"/>
          <p:cNvSpPr/>
          <p:nvPr/>
        </p:nvSpPr>
        <p:spPr>
          <a:xfrm>
            <a:off x="6446520" y="178308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escalera del ingreso laboral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46520" y="210312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“Salarios” e “ingreso de los hogares” no son lo mismo — MUSD 2024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565392" y="248716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Sueldos y salarios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875520" y="248716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12.555,3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565392" y="294436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Contribuciones sociales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875520" y="294436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1.277,5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46520" y="3401568"/>
            <a:ext cx="4892040" cy="402336"/>
          </a:xfrm>
          <a:prstGeom prst="roundRect">
            <a:avLst>
              <a:gd name="adj" fmla="val 11364"/>
            </a:avLst>
          </a:prstGeom>
          <a:solidFill>
            <a:srgbClr val="212F3B"/>
          </a:solidFill>
          <a:ln/>
        </p:spPr>
      </p:sp>
      <p:sp>
        <p:nvSpPr>
          <p:cNvPr id="31" name="Text 29"/>
          <p:cNvSpPr/>
          <p:nvPr/>
        </p:nvSpPr>
        <p:spPr>
          <a:xfrm>
            <a:off x="6565392" y="340156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Remuneraciones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875520" y="340156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13.832,8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565392" y="385876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mixto (cuentapropistas)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875520" y="385876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6.600,9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46520" y="4315968"/>
            <a:ext cx="4892040" cy="402336"/>
          </a:xfrm>
          <a:prstGeom prst="roundRect">
            <a:avLst>
              <a:gd name="adj" fmla="val 11364"/>
            </a:avLst>
          </a:prstGeom>
          <a:solidFill>
            <a:srgbClr val="212F3B"/>
          </a:solidFill>
          <a:ln/>
        </p:spPr>
      </p:sp>
      <p:sp>
        <p:nvSpPr>
          <p:cNvPr id="36" name="Text 34"/>
          <p:cNvSpPr/>
          <p:nvPr/>
        </p:nvSpPr>
        <p:spPr>
          <a:xfrm>
            <a:off x="6565392" y="431596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Ingreso laboral de los hogares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875520" y="431596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19.156,2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446520" y="4800600"/>
            <a:ext cx="4892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ingreso mixto es el 32,3% del ingreso laboral del país: dejarlo fuera equivale a ignorar a un tercio de los perceptores, concentrados en el empleo por cuenta propia e informal.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446520" y="5532120"/>
            <a:ext cx="4846320" cy="0"/>
          </a:xfrm>
          <a:prstGeom prst="line">
            <a:avLst/>
          </a:prstGeom>
          <a:noFill/>
          <a:ln w="12700">
            <a:solidFill>
              <a:srgbClr val="3D566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46520" y="5605272"/>
            <a:ext cx="4892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laboral medio del país: 6.175 USD anuales — con una dispersión de seis a uno entre sectores (20.560 en electricidad contra 3.483 en textiles).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MIP Paraguay  ·  Taller, Sección 1 — La estructura del simulador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5 · LA CAPA ESTRUCTURAL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Encadenamientos Internos: la arquitectura productiva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 de Rasmussen-Hirschman sobre la inversa de Leontief. No dependen del choque: sirven para elegir qué sectores conviene simular, antes de correr nada.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11480" y="2331720"/>
          <a:ext cx="708660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726680" y="1600200"/>
            <a:ext cx="3886200" cy="4800600"/>
          </a:xfrm>
          <a:prstGeom prst="roundRect">
            <a:avLst>
              <a:gd name="adj" fmla="val 2118"/>
            </a:avLst>
          </a:prstGeom>
          <a:solidFill>
            <a:srgbClr val="2C3E50"/>
          </a:solidFill>
          <a:ln/>
        </p:spPr>
      </p:sp>
      <p:sp>
        <p:nvSpPr>
          <p:cNvPr id="7" name="Text 4"/>
          <p:cNvSpPr/>
          <p:nvPr/>
        </p:nvSpPr>
        <p:spPr>
          <a:xfrm>
            <a:off x="8001000" y="17373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cuatro categorías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001000" y="2185416"/>
            <a:ext cx="128016" cy="128016"/>
          </a:xfrm>
          <a:prstGeom prst="ellipse">
            <a:avLst/>
          </a:prstGeom>
          <a:solidFill>
            <a:srgbClr val="1A6B8A"/>
          </a:solidFill>
          <a:ln/>
        </p:spPr>
      </p:sp>
      <p:sp>
        <p:nvSpPr>
          <p:cNvPr id="9" name="Text 6"/>
          <p:cNvSpPr/>
          <p:nvPr/>
        </p:nvSpPr>
        <p:spPr>
          <a:xfrm>
            <a:off x="8247888" y="206654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247888" y="2322576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&gt; 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247888" y="2551176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Difunde en las dos direcciones. Comercio, Alimentos, Serv. a empresas.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001000" y="3145536"/>
            <a:ext cx="128016" cy="128016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13" name="Text 10"/>
          <p:cNvSpPr/>
          <p:nvPr/>
        </p:nvSpPr>
        <p:spPr>
          <a:xfrm>
            <a:off x="8247888" y="302666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Dependiente sobre oferta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247888" y="3282696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atrás &gt; 1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247888" y="3511296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Fuerte demandante de insumos. Minería, Construcción.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001000" y="4105656"/>
            <a:ext cx="128016" cy="128016"/>
          </a:xfrm>
          <a:prstGeom prst="ellipse">
            <a:avLst/>
          </a:prstGeom>
          <a:solidFill>
            <a:srgbClr val="3D566E"/>
          </a:solidFill>
          <a:ln/>
        </p:spPr>
      </p:sp>
      <p:sp>
        <p:nvSpPr>
          <p:cNvPr id="17" name="Text 14"/>
          <p:cNvSpPr/>
          <p:nvPr/>
        </p:nvSpPr>
        <p:spPr>
          <a:xfrm>
            <a:off x="8247888" y="398678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Dependiente en demanda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247888" y="4242816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adelante &gt; 1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247888" y="4471416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 de muchos sectores. Electricidad, Inmobiliario.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8001000" y="5065776"/>
            <a:ext cx="128016" cy="128016"/>
          </a:xfrm>
          <a:prstGeom prst="ellipse">
            <a:avLst/>
          </a:prstGeom>
          <a:solidFill>
            <a:srgbClr val="9FB0C4"/>
          </a:solidFill>
          <a:ln/>
        </p:spPr>
      </p:sp>
      <p:sp>
        <p:nvSpPr>
          <p:cNvPr id="21" name="Text 18"/>
          <p:cNvSpPr/>
          <p:nvPr/>
        </p:nvSpPr>
        <p:spPr>
          <a:xfrm>
            <a:off x="8247888" y="494690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Independiente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8247888" y="5202936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&lt; 1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247888" y="5431536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Poco integrado; sus impulsos se difunden poco.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001000" y="5998464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multiplicador alto indica capacidad de arrastre — no viabilidad, ni sostenibilidad, ni calidad del empleo.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MIP Paraguay  ·  Taller, Sección 1 — La estructura del simulador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5 · LA CAPA ESTRUCTURAL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Empleo Exportador: cuánto empleo sostiene el país exportando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97480" cy="1234440"/>
          </a:xfrm>
          <a:prstGeom prst="roundRect">
            <a:avLst>
              <a:gd name="adj" fmla="val 6667"/>
            </a:avLst>
          </a:prstGeom>
          <a:solidFill>
            <a:srgbClr val="2C3E5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6479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712.052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40864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empleos asociados a exportaciones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502152" y="1645920"/>
            <a:ext cx="2697480" cy="1234440"/>
          </a:xfrm>
          <a:prstGeom prst="roundRect">
            <a:avLst>
              <a:gd name="adj" fmla="val 6667"/>
            </a:avLst>
          </a:prstGeom>
          <a:solidFill>
            <a:srgbClr val="1A6B8A"/>
          </a:solidFill>
          <a:ln/>
        </p:spPr>
      </p:sp>
      <p:sp>
        <p:nvSpPr>
          <p:cNvPr id="8" name="Text 6"/>
          <p:cNvSpPr/>
          <p:nvPr/>
        </p:nvSpPr>
        <p:spPr>
          <a:xfrm>
            <a:off x="3685032" y="176479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23,0 %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85032" y="2340864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empleo nacional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55664" y="1645920"/>
            <a:ext cx="2697480" cy="1234440"/>
          </a:xfrm>
          <a:prstGeom prst="roundRect">
            <a:avLst>
              <a:gd name="adj" fmla="val 6667"/>
            </a:avLst>
          </a:prstGeom>
          <a:solidFill>
            <a:srgbClr val="2C3E50"/>
          </a:solidFill>
          <a:ln/>
        </p:spPr>
      </p:sp>
      <p:sp>
        <p:nvSpPr>
          <p:cNvPr id="11" name="Text 9"/>
          <p:cNvSpPr/>
          <p:nvPr/>
        </p:nvSpPr>
        <p:spPr>
          <a:xfrm>
            <a:off x="6638544" y="176479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1,709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638544" y="2340864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multiplicador de empleo exportador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409176" y="1645920"/>
            <a:ext cx="2697480" cy="1234440"/>
          </a:xfrm>
          <a:prstGeom prst="roundRect">
            <a:avLst>
              <a:gd name="adj" fmla="val 6667"/>
            </a:avLst>
          </a:prstGeom>
          <a:solidFill>
            <a:srgbClr val="1A6B8A"/>
          </a:solidFill>
          <a:ln/>
        </p:spPr>
      </p:sp>
      <p:sp>
        <p:nvSpPr>
          <p:cNvPr id="14" name="Text 12"/>
          <p:cNvSpPr/>
          <p:nvPr/>
        </p:nvSpPr>
        <p:spPr>
          <a:xfrm>
            <a:off x="9592056" y="176479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0,842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592056" y="2340864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 — valor agregado en exportaciones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017520"/>
            <a:ext cx="5532120" cy="2331720"/>
          </a:xfrm>
          <a:prstGeom prst="roundRect">
            <a:avLst>
              <a:gd name="adj" fmla="val 3529"/>
            </a:avLst>
          </a:prstGeom>
          <a:solidFill>
            <a:srgbClr val="F4F6F7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127248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Empleo por destino — el dato que ordena la Sección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345643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423160" y="345643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Export. MUSD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566160" y="345643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09160" y="345643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millón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22960" y="3749040"/>
            <a:ext cx="4892040" cy="0"/>
          </a:xfrm>
          <a:prstGeom prst="line">
            <a:avLst/>
          </a:prstGeom>
          <a:noFill/>
          <a:ln w="12700">
            <a:solidFill>
              <a:srgbClr val="D5D8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803904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Argentina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423160" y="3803904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3.019,8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566160" y="3803904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212.673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09160" y="380390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70,4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22960" y="4123944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423160" y="4123944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2.975,9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566160" y="4123944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103.898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09160" y="412394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34,9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22960" y="4443984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Unión Europea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423160" y="4443984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452,4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566160" y="4443984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23.256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09160" y="444398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51,4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22960" y="4754880"/>
            <a:ext cx="4983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Argentina y Brasil compran montos casi idénticos, pero Argentina moviliza el doble de empleo: soja en grano arrastra toda la cadena agrícola; energía eléctrica, casi nada.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355080" y="3017520"/>
            <a:ext cx="5257800" cy="2331720"/>
          </a:xfrm>
          <a:prstGeom prst="roundRect">
            <a:avLst>
              <a:gd name="adj" fmla="val 3529"/>
            </a:avLst>
          </a:prstGeom>
          <a:solidFill>
            <a:srgbClr val="2C3E50"/>
          </a:solidFill>
          <a:ln/>
        </p:spPr>
      </p:sp>
      <p:sp>
        <p:nvSpPr>
          <p:cNvPr id="37" name="Text 35"/>
          <p:cNvSpPr/>
          <p:nvPr/>
        </p:nvSpPr>
        <p:spPr>
          <a:xfrm>
            <a:off x="6629400" y="3127248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perfil del empleo exportador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629400" y="3401568"/>
            <a:ext cx="4709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 al promedio nacional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629400" y="370332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784080" y="37033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+13,0 pp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629400" y="404164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Calificación alta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784080" y="404164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−7,6 pp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629400" y="4379976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784080" y="437997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+4,3 pp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629400" y="475488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rural, menos calificado y más informal. Lo explica la composición: agricultura aporta 276 mil de los 712 mil puestos.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48640" y="5440680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F4F6F7"/>
          </a:solidFill>
          <a:ln/>
        </p:spPr>
      </p:sp>
      <p:sp>
        <p:nvSpPr>
          <p:cNvPr id="47" name="Shape 45"/>
          <p:cNvSpPr/>
          <p:nvPr/>
        </p:nvSpPr>
        <p:spPr>
          <a:xfrm>
            <a:off x="549554" y="5550408"/>
            <a:ext cx="100584" cy="649224"/>
          </a:xfrm>
          <a:prstGeom prst="roundRect">
            <a:avLst>
              <a:gd name="adj" fmla="val 18182"/>
            </a:avLst>
          </a:prstGeom>
          <a:solidFill>
            <a:srgbClr val="1A6B8A"/>
          </a:solidFill>
          <a:ln/>
        </p:spPr>
      </p:sp>
      <p:sp>
        <p:nvSpPr>
          <p:cNvPr id="48" name="Text 46"/>
          <p:cNvSpPr/>
          <p:nvPr/>
        </p:nvSpPr>
        <p:spPr>
          <a:xfrm>
            <a:off x="868680" y="5605272"/>
            <a:ext cx="105156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de cada diez de esos empleos están en sectores que NO exportan directamente: proveen a los que exportan. Es el argumento más fuerte a favor de mirar cadenas y no sectores aislados.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MIP Paraguay  ·  Taller, Sección 1 — La estructura del simulador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5 · LA CAPA ESTRUCTURAL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Inserción Internacional: cuánto valor se queda en el país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proporción del valor de la producción que queda en Paraguay como valor agregado doméstico. Su contracara es el contenido importado.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6675120" cy="3200400"/>
          </a:xfrm>
          <a:prstGeom prst="roundRect">
            <a:avLst>
              <a:gd name="adj" fmla="val 2571"/>
            </a:avLst>
          </a:prstGeom>
          <a:solidFill>
            <a:srgbClr val="F4F6F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21992"/>
            <a:ext cx="6126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extremos de la retención de valor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633472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inmobiliarios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34640" y="2724912"/>
            <a:ext cx="2822753" cy="155448"/>
          </a:xfrm>
          <a:prstGeom prst="rect">
            <a:avLst/>
          </a:prstGeom>
          <a:solidFill>
            <a:srgbClr val="3F8F5F"/>
          </a:solidFill>
          <a:ln/>
        </p:spPr>
      </p:sp>
      <p:sp>
        <p:nvSpPr>
          <p:cNvPr id="9" name="Text 7"/>
          <p:cNvSpPr/>
          <p:nvPr/>
        </p:nvSpPr>
        <p:spPr>
          <a:xfrm>
            <a:off x="5730545" y="2633472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8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0,882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3035808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Electricidad, gas y agua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34640" y="3127248"/>
            <a:ext cx="2662733" cy="155448"/>
          </a:xfrm>
          <a:prstGeom prst="rect">
            <a:avLst/>
          </a:prstGeom>
          <a:solidFill>
            <a:srgbClr val="3F8F5F"/>
          </a:solidFill>
          <a:ln/>
        </p:spPr>
      </p:sp>
      <p:sp>
        <p:nvSpPr>
          <p:cNvPr id="12" name="Text 10"/>
          <p:cNvSpPr/>
          <p:nvPr/>
        </p:nvSpPr>
        <p:spPr>
          <a:xfrm>
            <a:off x="5570525" y="3035808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8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0,832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3438144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 y seguros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834640" y="3529584"/>
            <a:ext cx="2438705" cy="155448"/>
          </a:xfrm>
          <a:prstGeom prst="rect">
            <a:avLst/>
          </a:prstGeom>
          <a:solidFill>
            <a:srgbClr val="3F8F5F"/>
          </a:solidFill>
          <a:ln/>
        </p:spPr>
      </p:sp>
      <p:sp>
        <p:nvSpPr>
          <p:cNvPr id="15" name="Text 13"/>
          <p:cNvSpPr/>
          <p:nvPr/>
        </p:nvSpPr>
        <p:spPr>
          <a:xfrm>
            <a:off x="5346497" y="3438144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8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0,762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3840480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nacional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834640" y="3931920"/>
            <a:ext cx="1705813" cy="155448"/>
          </a:xfrm>
          <a:prstGeom prst="rect">
            <a:avLst/>
          </a:prstGeom>
          <a:solidFill>
            <a:srgbClr val="C98A2C"/>
          </a:solidFill>
          <a:ln/>
        </p:spPr>
      </p:sp>
      <p:sp>
        <p:nvSpPr>
          <p:cNvPr id="18" name="Text 16"/>
          <p:cNvSpPr/>
          <p:nvPr/>
        </p:nvSpPr>
        <p:spPr>
          <a:xfrm>
            <a:off x="4613605" y="3840480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0,533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4242816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Química, farmacia y caucho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834640" y="4334256"/>
            <a:ext cx="1081735" cy="155448"/>
          </a:xfrm>
          <a:prstGeom prst="rect">
            <a:avLst/>
          </a:prstGeom>
          <a:solidFill>
            <a:srgbClr val="AD4A3B"/>
          </a:solidFill>
          <a:ln/>
        </p:spPr>
      </p:sp>
      <p:sp>
        <p:nvSpPr>
          <p:cNvPr id="21" name="Text 19"/>
          <p:cNvSpPr/>
          <p:nvPr/>
        </p:nvSpPr>
        <p:spPr>
          <a:xfrm>
            <a:off x="3989527" y="4242816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D4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0,338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" y="4645152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Minería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834640" y="4736592"/>
            <a:ext cx="1027328" cy="155448"/>
          </a:xfrm>
          <a:prstGeom prst="rect">
            <a:avLst/>
          </a:prstGeom>
          <a:solidFill>
            <a:srgbClr val="AD4A3B"/>
          </a:solidFill>
          <a:ln/>
        </p:spPr>
      </p:sp>
      <p:sp>
        <p:nvSpPr>
          <p:cNvPr id="24" name="Text 22"/>
          <p:cNvSpPr/>
          <p:nvPr/>
        </p:nvSpPr>
        <p:spPr>
          <a:xfrm>
            <a:off x="3935120" y="4645152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D4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0,321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" y="495604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hidroeléctrica retiene mucho porque casi no usa insumos importados; química y minería retienen un tercio porque dependen de ellos.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498080" y="2103120"/>
            <a:ext cx="4114800" cy="3200400"/>
          </a:xfrm>
          <a:prstGeom prst="roundRect">
            <a:avLst>
              <a:gd name="adj" fmla="val 2571"/>
            </a:avLst>
          </a:prstGeom>
          <a:solidFill>
            <a:srgbClr val="2C3E50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0" y="222199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lectura de semáforo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772400" y="2542032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cada sector con un valor de referencia y una banda, ambos editables en el encabezado de la hoja.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772400" y="3264408"/>
            <a:ext cx="182880" cy="182880"/>
          </a:xfrm>
          <a:prstGeom prst="ellipse">
            <a:avLst/>
          </a:prstGeom>
          <a:solidFill>
            <a:srgbClr val="3F8F5F"/>
          </a:solidFill>
          <a:ln/>
        </p:spPr>
      </p:sp>
      <p:sp>
        <p:nvSpPr>
          <p:cNvPr id="30" name="Text 28"/>
          <p:cNvSpPr/>
          <p:nvPr/>
        </p:nvSpPr>
        <p:spPr>
          <a:xfrm>
            <a:off x="8092440" y="3200400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retención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772400" y="3648456"/>
            <a:ext cx="182880" cy="182880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32" name="Text 30"/>
          <p:cNvSpPr/>
          <p:nvPr/>
        </p:nvSpPr>
        <p:spPr>
          <a:xfrm>
            <a:off x="8092440" y="3584448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Retención media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772400" y="4032504"/>
            <a:ext cx="182880" cy="182880"/>
          </a:xfrm>
          <a:prstGeom prst="ellipse">
            <a:avLst/>
          </a:prstGeom>
          <a:solidFill>
            <a:srgbClr val="AD4A3B"/>
          </a:solidFill>
          <a:ln/>
        </p:spPr>
      </p:sp>
      <p:sp>
        <p:nvSpPr>
          <p:cNvPr id="34" name="Text 32"/>
          <p:cNvSpPr/>
          <p:nvPr/>
        </p:nvSpPr>
        <p:spPr>
          <a:xfrm>
            <a:off x="8092440" y="3968496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/ ensamblaje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772400" y="4480560"/>
            <a:ext cx="3566160" cy="0"/>
          </a:xfrm>
          <a:prstGeom prst="line">
            <a:avLst/>
          </a:prstGeom>
          <a:noFill/>
          <a:ln w="12700">
            <a:solidFill>
              <a:srgbClr val="3D56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0" y="457200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Usarla para matizar una simulación: un aumento exportador grande en un sector de baja retención genera menos valor y empleo doméstico neto del que sugiere la cifra bruta.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8640" y="553212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F4F6F7"/>
          </a:solidFill>
          <a:ln/>
        </p:spPr>
      </p:sp>
      <p:sp>
        <p:nvSpPr>
          <p:cNvPr id="38" name="Shape 36"/>
          <p:cNvSpPr/>
          <p:nvPr/>
        </p:nvSpPr>
        <p:spPr>
          <a:xfrm>
            <a:off x="549554" y="5641848"/>
            <a:ext cx="100584" cy="557784"/>
          </a:xfrm>
          <a:prstGeom prst="roundRect">
            <a:avLst>
              <a:gd name="adj" fmla="val 18182"/>
            </a:avLst>
          </a:prstGeom>
          <a:solidFill>
            <a:srgbClr val="1A6B8A"/>
          </a:solidFill>
          <a:ln/>
        </p:spPr>
      </p:sp>
      <p:sp>
        <p:nvSpPr>
          <p:cNvPr id="39" name="Text 37"/>
          <p:cNvSpPr/>
          <p:nvPr/>
        </p:nvSpPr>
        <p:spPr>
          <a:xfrm>
            <a:off x="868680" y="5696712"/>
            <a:ext cx="105156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VAX es un concepto relacionado pero distinto: el valor agregado doméstico contenido en las exportaciones. En Paraguay 2024 es 0,842 — por cada dólar exportado, 84,2 centavos son valor nacional.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MIP Paraguay  ·  Taller, Sección 1 — La estructura del simulador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12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supuestos del modelo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Conviene plantearlos acá y no más adelante, porque condicionan toda lectura posterior.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49240" cy="914400"/>
          </a:xfrm>
          <a:prstGeom prst="roundRect">
            <a:avLst>
              <a:gd name="adj" fmla="val 9000"/>
            </a:avLst>
          </a:prstGeom>
          <a:solidFill>
            <a:srgbClr val="2C3E50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2331720"/>
            <a:ext cx="100584" cy="548640"/>
          </a:xfrm>
          <a:prstGeom prst="roundRect">
            <a:avLst>
              <a:gd name="adj" fmla="val 18182"/>
            </a:avLst>
          </a:prstGeom>
          <a:solidFill>
            <a:srgbClr val="1A6B8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258568"/>
            <a:ext cx="4690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Coeficientes técnicos fijos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606040"/>
            <a:ext cx="4690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sustitución de insumos ni cambio técnico.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2148840"/>
            <a:ext cx="5349240" cy="914400"/>
          </a:xfrm>
          <a:prstGeom prst="roundRect">
            <a:avLst>
              <a:gd name="adj" fmla="val 9000"/>
            </a:avLst>
          </a:prstGeom>
          <a:solidFill>
            <a:srgbClr val="2C3E50"/>
          </a:solidFill>
          <a:ln/>
        </p:spPr>
      </p:sp>
      <p:sp>
        <p:nvSpPr>
          <p:cNvPr id="10" name="Shape 8"/>
          <p:cNvSpPr/>
          <p:nvPr/>
        </p:nvSpPr>
        <p:spPr>
          <a:xfrm>
            <a:off x="6464808" y="2331720"/>
            <a:ext cx="100584" cy="548640"/>
          </a:xfrm>
          <a:prstGeom prst="roundRect">
            <a:avLst>
              <a:gd name="adj" fmla="val 18182"/>
            </a:avLst>
          </a:prstGeom>
          <a:solidFill>
            <a:srgbClr val="1A6B8A"/>
          </a:solidFill>
          <a:ln/>
        </p:spPr>
      </p:sp>
      <p:sp>
        <p:nvSpPr>
          <p:cNvPr id="11" name="Text 9"/>
          <p:cNvSpPr/>
          <p:nvPr/>
        </p:nvSpPr>
        <p:spPr>
          <a:xfrm>
            <a:off x="6720840" y="2258568"/>
            <a:ext cx="4690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restricciones de capacidad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20840" y="2606040"/>
            <a:ext cx="4690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oferta se ajusta sin cuellos de botella.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319272"/>
            <a:ext cx="5349240" cy="914400"/>
          </a:xfrm>
          <a:prstGeom prst="roundRect">
            <a:avLst>
              <a:gd name="adj" fmla="val 9000"/>
            </a:avLst>
          </a:prstGeom>
          <a:solidFill>
            <a:srgbClr val="2C3E50"/>
          </a:solidFill>
          <a:ln/>
        </p:spPr>
      </p:sp>
      <p:sp>
        <p:nvSpPr>
          <p:cNvPr id="14" name="Shape 12"/>
          <p:cNvSpPr/>
          <p:nvPr/>
        </p:nvSpPr>
        <p:spPr>
          <a:xfrm>
            <a:off x="749808" y="3502152"/>
            <a:ext cx="100584" cy="548640"/>
          </a:xfrm>
          <a:prstGeom prst="roundRect">
            <a:avLst>
              <a:gd name="adj" fmla="val 18182"/>
            </a:avLst>
          </a:prstGeom>
          <a:solidFill>
            <a:srgbClr val="1A6B8A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429000"/>
            <a:ext cx="4690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Precios relativos constantes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3776472"/>
            <a:ext cx="4690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respuesta de precios al aumento de demanda.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3640" y="3319272"/>
            <a:ext cx="5349240" cy="914400"/>
          </a:xfrm>
          <a:prstGeom prst="roundRect">
            <a:avLst>
              <a:gd name="adj" fmla="val 9000"/>
            </a:avLst>
          </a:prstGeom>
          <a:solidFill>
            <a:srgbClr val="2C3E50"/>
          </a:solidFill>
          <a:ln/>
        </p:spPr>
      </p:sp>
      <p:sp>
        <p:nvSpPr>
          <p:cNvPr id="18" name="Shape 16"/>
          <p:cNvSpPr/>
          <p:nvPr/>
        </p:nvSpPr>
        <p:spPr>
          <a:xfrm>
            <a:off x="6464808" y="3502152"/>
            <a:ext cx="100584" cy="548640"/>
          </a:xfrm>
          <a:prstGeom prst="roundRect">
            <a:avLst>
              <a:gd name="adj" fmla="val 18182"/>
            </a:avLst>
          </a:prstGeom>
          <a:solidFill>
            <a:srgbClr val="1A6B8A"/>
          </a:solidFill>
          <a:ln/>
        </p:spPr>
      </p:sp>
      <p:sp>
        <p:nvSpPr>
          <p:cNvPr id="19" name="Text 17"/>
          <p:cNvSpPr/>
          <p:nvPr/>
        </p:nvSpPr>
        <p:spPr>
          <a:xfrm>
            <a:off x="6720840" y="3429000"/>
            <a:ext cx="4690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Rendimientos constantes a escala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20840" y="3776472"/>
            <a:ext cx="4690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costo unitario no varía con el volumen.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343400"/>
            <a:ext cx="11064240" cy="1828800"/>
          </a:xfrm>
          <a:prstGeom prst="roundRect">
            <a:avLst>
              <a:gd name="adj" fmla="val 4500"/>
            </a:avLst>
          </a:prstGeom>
          <a:solidFill>
            <a:srgbClr val="2C3E50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5262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“El modelo contabiliza, no anticipa.”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68680" y="502920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resultados son el requerimiento de producción y empleo asociado a un nivel de demanda — no una predicción. Informan qué haría falta, no qué va a ocurrir.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68680" y="5596128"/>
            <a:ext cx="10424160" cy="0"/>
          </a:xfrm>
          <a:prstGeom prst="line">
            <a:avLst/>
          </a:prstGeom>
          <a:noFill/>
          <a:ln w="12700">
            <a:solidFill>
              <a:srgbClr val="3D5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566928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es estática comparativa: compara una situación con y sin el choque, sin describir la trayectoria temporal entre ambas ni cuánto tardaría en materializarse.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MIP Paraguay  ·  Taller, Sección 1 — La estructura del simulador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apoyo y qué sigue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532120" cy="4572000"/>
          </a:xfrm>
          <a:prstGeom prst="roundRect">
            <a:avLst>
              <a:gd name="adj" fmla="val 1800"/>
            </a:avLst>
          </a:prstGeom>
          <a:solidFill>
            <a:srgbClr val="F4F6F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10512"/>
            <a:ext cx="4983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apoyo — en el sitio del taller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2084832"/>
            <a:ext cx="4983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https://nicogarrido.github.io/Simulador-Paraguay/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68680" y="2596896"/>
            <a:ext cx="100584" cy="100584"/>
          </a:xfrm>
          <a:prstGeom prst="ellipse">
            <a:avLst/>
          </a:prstGeom>
          <a:solidFill>
            <a:srgbClr val="1A6B8A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487168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hojas del simulador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2743200"/>
            <a:ext cx="4617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página por hoja: qué contiene, cómo se lee y qué errores evitar.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68680" y="3346704"/>
            <a:ext cx="100584" cy="100584"/>
          </a:xfrm>
          <a:prstGeom prst="ellipse">
            <a:avLst/>
          </a:prstGeom>
          <a:solidFill>
            <a:srgbClr val="1A6B8A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236976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modos de uso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3493008"/>
            <a:ext cx="4617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detalle operativo de cada modo, paso a paso.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68680" y="4096512"/>
            <a:ext cx="100584" cy="100584"/>
          </a:xfrm>
          <a:prstGeom prst="ellipse">
            <a:avLst/>
          </a:prstGeom>
          <a:solidFill>
            <a:srgbClr val="1A6B8A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986784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y advertencias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4242816"/>
            <a:ext cx="4617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hacer al operar, interpretar y comunicar resultados.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68680" y="4846320"/>
            <a:ext cx="100584" cy="100584"/>
          </a:xfrm>
          <a:prstGeom prst="ellipse">
            <a:avLst/>
          </a:prstGeom>
          <a:solidFill>
            <a:srgbClr val="1A6B8A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4736592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4992624"/>
            <a:ext cx="4617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21 sectores y las 10 regiones, con sus códigos.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68680" y="5596128"/>
            <a:ext cx="100584" cy="100584"/>
          </a:xfrm>
          <a:prstGeom prst="ellipse">
            <a:avLst/>
          </a:prstGeom>
          <a:solidFill>
            <a:srgbClr val="1A6B8A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548640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Glosario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5742432"/>
            <a:ext cx="4617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términos del modelo, definidos.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355080" y="1691640"/>
            <a:ext cx="5257800" cy="4572000"/>
          </a:xfrm>
          <a:prstGeom prst="roundRect">
            <a:avLst>
              <a:gd name="adj" fmla="val 1800"/>
            </a:avLst>
          </a:prstGeom>
          <a:solidFill>
            <a:srgbClr val="2C3E50"/>
          </a:solidFill>
          <a:ln/>
        </p:spPr>
      </p:sp>
      <p:sp>
        <p:nvSpPr>
          <p:cNvPr id="23" name="Text 21"/>
          <p:cNvSpPr/>
          <p:nvPr/>
        </p:nvSpPr>
        <p:spPr>
          <a:xfrm>
            <a:off x="6629400" y="182880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sigue en el taller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629400" y="2286000"/>
            <a:ext cx="4709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29400" y="2532888"/>
            <a:ext cx="4709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en la demanda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629400" y="2862072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Siete casos aplicados, de dificultad creciente: de la soja versus la industria a maximizar el empleo decente, pasando por la sequía de la Hidrovía, el empleo por género y por calificación.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29400" y="4023360"/>
            <a:ext cx="4709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29400" y="4270248"/>
            <a:ext cx="4709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bloque externo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629400" y="4599432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casos de integración: el Acuerdo UE–Mercosur, un nuevo acceso de mercado, y el Corredor Bioceánico, una nueva ruta logística. Los más ricos del taller.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629400" y="5669280"/>
            <a:ext cx="4709160" cy="0"/>
          </a:xfrm>
          <a:prstGeom prst="line">
            <a:avLst/>
          </a:prstGeom>
          <a:noFill/>
          <a:ln w="12700">
            <a:solidFill>
              <a:srgbClr val="3D56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9400" y="5742432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empezar: tener el simulador descargado y abierto al menos una vez, con las macros habilitadas. Sin ellas el efecto inducido no se calcula.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MIP Paraguay  ·  Taller, Sección 1 — La estructura del simulador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12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097280"/>
            <a:ext cx="3840480" cy="3840480"/>
          </a:xfrm>
          <a:prstGeom prst="ellipse">
            <a:avLst/>
          </a:prstGeom>
          <a:solidFill>
            <a:srgbClr val="2C3E50"/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4937760"/>
            <a:ext cx="3291840" cy="3291840"/>
          </a:xfrm>
          <a:prstGeom prst="ellipse">
            <a:avLst/>
          </a:prstGeom>
          <a:solidFill>
            <a:srgbClr val="2C3E5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28600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914400" y="32461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antes de pasar a la Sección 2 — Cambios en la demanda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32688" y="4160520"/>
            <a:ext cx="2011680" cy="0"/>
          </a:xfrm>
          <a:prstGeom prst="line">
            <a:avLst/>
          </a:prstGeom>
          <a:noFill/>
          <a:ln w="19050">
            <a:solidFill>
              <a:srgbClr val="3D5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343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Nicolás Garrido  ·  Economista, Consultor OIT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nicogarrido@gmail.com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6126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de Impacto — MIP Paraguay  ·  Material bajo licencia CC BY 4.0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2026-08-18T10:32:53Z</dcterms:created>
  <dcterms:modified xsi:type="dcterms:W3CDTF">2026-08-18T10:32:53Z</dcterms:modified>
</cp:coreProperties>
</file>